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7"/>
  </p:notesMasterIdLst>
  <p:sldIdLst>
    <p:sldId id="256" r:id="rId2"/>
    <p:sldId id="257" r:id="rId3"/>
    <p:sldId id="285" r:id="rId4"/>
    <p:sldId id="313" r:id="rId5"/>
    <p:sldId id="315" r:id="rId6"/>
    <p:sldId id="316" r:id="rId7"/>
    <p:sldId id="317" r:id="rId8"/>
    <p:sldId id="318" r:id="rId9"/>
    <p:sldId id="272" r:id="rId10"/>
    <p:sldId id="2590" r:id="rId11"/>
    <p:sldId id="2589" r:id="rId12"/>
    <p:sldId id="2588" r:id="rId13"/>
    <p:sldId id="319" r:id="rId14"/>
    <p:sldId id="2593" r:id="rId15"/>
    <p:sldId id="2592" r:id="rId16"/>
    <p:sldId id="320" r:id="rId17"/>
    <p:sldId id="322" r:id="rId18"/>
    <p:sldId id="321" r:id="rId19"/>
    <p:sldId id="324" r:id="rId20"/>
    <p:sldId id="329" r:id="rId21"/>
    <p:sldId id="327" r:id="rId22"/>
    <p:sldId id="323" r:id="rId23"/>
    <p:sldId id="326" r:id="rId24"/>
    <p:sldId id="2584" r:id="rId25"/>
    <p:sldId id="265" r:id="rId26"/>
  </p:sldIdLst>
  <p:sldSz cx="9144000" cy="5143500" type="screen16x9"/>
  <p:notesSz cx="6858000" cy="9144000"/>
  <p:embeddedFontLst>
    <p:embeddedFont>
      <p:font typeface="Catamaran Thin" panose="020B0604020202020204" charset="0"/>
      <p:regular r:id="rId28"/>
      <p:bold r:id="rId29"/>
    </p:embeddedFont>
    <p:embeddedFont>
      <p:font typeface="Catamaran" panose="020B0604020202020204" charset="0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112" d="100"/>
          <a:sy n="112" d="100"/>
        </p:scale>
        <p:origin x="63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b2f7c811e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b2f7c811e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82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930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043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58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23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1019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3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0108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1151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5015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181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338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821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574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001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6601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3257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962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2197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390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89" name="Google Shape;89;p6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90" name="Google Shape;90;p6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Google Shape;103;p6"/>
          <p:cNvSpPr txBox="1">
            <a:spLocks noGrp="1"/>
          </p:cNvSpPr>
          <p:nvPr>
            <p:ph type="body" idx="2"/>
          </p:nvPr>
        </p:nvSpPr>
        <p:spPr>
          <a:xfrm>
            <a:off x="3981304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126" name="Google Shape;126;p8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127" name="Google Shape;127;p8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9" name="Google Shape;139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_1">
    <p:bg>
      <p:bgPr>
        <a:solidFill>
          <a:schemeClr val="accen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4" name="Google Shape;174;p11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75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107" name="Google Shape;107;p7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108" name="Google Shape;108;p7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2"/>
          </p:nvPr>
        </p:nvSpPr>
        <p:spPr>
          <a:xfrm>
            <a:off x="3077669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3"/>
          </p:nvPr>
        </p:nvSpPr>
        <p:spPr>
          <a:xfrm>
            <a:off x="5376238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98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72" name="Google Shape;72;p5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73" name="Google Shape;73;p5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84" name="Google Shape;84;p5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304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7" r:id="rId4"/>
    <p:sldLayoutId id="2147483659" r:id="rId5"/>
    <p:sldLayoutId id="2147483660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e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e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e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e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98;p12">
            <a:extLst>
              <a:ext uri="{FF2B5EF4-FFF2-40B4-BE49-F238E27FC236}">
                <a16:creationId xmlns:a16="http://schemas.microsoft.com/office/drawing/2014/main" id="{7083C514-6F9C-1DD1-07A0-6ECD3356D069}"/>
              </a:ext>
            </a:extLst>
          </p:cNvPr>
          <p:cNvPicPr preferRelativeResize="0"/>
          <p:nvPr/>
        </p:nvPicPr>
        <p:blipFill>
          <a:blip r:embed="rId3"/>
          <a:srcRect l="4708" r="4708"/>
          <a:stretch/>
        </p:blipFill>
        <p:spPr>
          <a:xfrm>
            <a:off x="-5137763" y="-1893673"/>
            <a:ext cx="4044927" cy="4465423"/>
          </a:xfrm>
          <a:custGeom>
            <a:avLst/>
            <a:gdLst/>
            <a:ahLst/>
            <a:cxnLst/>
            <a:rect l="l" t="t" r="r" b="b"/>
            <a:pathLst>
              <a:path w="21598" h="21456" extrusionOk="0">
                <a:moveTo>
                  <a:pt x="10800" y="0"/>
                </a:moveTo>
                <a:cubicBezTo>
                  <a:pt x="10183" y="0"/>
                  <a:pt x="9567" y="144"/>
                  <a:pt x="9014" y="430"/>
                </a:cubicBezTo>
                <a:lnTo>
                  <a:pt x="1782" y="4189"/>
                </a:lnTo>
                <a:cubicBezTo>
                  <a:pt x="678" y="4763"/>
                  <a:pt x="0" y="5821"/>
                  <a:pt x="0" y="6968"/>
                </a:cubicBezTo>
                <a:lnTo>
                  <a:pt x="0" y="14485"/>
                </a:lnTo>
                <a:cubicBezTo>
                  <a:pt x="1" y="15633"/>
                  <a:pt x="681" y="16694"/>
                  <a:pt x="1786" y="17268"/>
                </a:cubicBezTo>
                <a:lnTo>
                  <a:pt x="9018" y="21026"/>
                </a:lnTo>
                <a:cubicBezTo>
                  <a:pt x="10122" y="21600"/>
                  <a:pt x="11480" y="21600"/>
                  <a:pt x="12585" y="21026"/>
                </a:cubicBezTo>
                <a:lnTo>
                  <a:pt x="19817" y="17268"/>
                </a:lnTo>
                <a:cubicBezTo>
                  <a:pt x="20922" y="16693"/>
                  <a:pt x="21600" y="15633"/>
                  <a:pt x="21599" y="14485"/>
                </a:cubicBezTo>
                <a:lnTo>
                  <a:pt x="21599" y="6968"/>
                </a:lnTo>
                <a:cubicBezTo>
                  <a:pt x="21599" y="5820"/>
                  <a:pt x="20922" y="4762"/>
                  <a:pt x="19817" y="4189"/>
                </a:cubicBezTo>
                <a:lnTo>
                  <a:pt x="12585" y="430"/>
                </a:lnTo>
                <a:cubicBezTo>
                  <a:pt x="12033" y="144"/>
                  <a:pt x="11416" y="0"/>
                  <a:pt x="108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99" name="Google Shape;199;p12"/>
          <p:cNvSpPr txBox="1">
            <a:spLocks noGrp="1"/>
          </p:cNvSpPr>
          <p:nvPr>
            <p:ph type="ctrTitle"/>
          </p:nvPr>
        </p:nvSpPr>
        <p:spPr>
          <a:xfrm>
            <a:off x="360211" y="2638157"/>
            <a:ext cx="7054233" cy="15504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br>
              <a:rPr lang="en-IN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</a:br>
            <a:r>
              <a:rPr lang="en-IN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AI Based Event Planner and Scheduler</a:t>
            </a:r>
            <a:endParaRPr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AB317-30B4-7307-7344-7C6DDE43D04B}"/>
              </a:ext>
            </a:extLst>
          </p:cNvPr>
          <p:cNvSpPr txBox="1"/>
          <p:nvPr/>
        </p:nvSpPr>
        <p:spPr>
          <a:xfrm>
            <a:off x="-4581364" y="4034693"/>
            <a:ext cx="4051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A Django-based Complaint Resolution Platform</a:t>
            </a:r>
            <a:endParaRPr lang="en-IN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90ACD-BF61-40E8-F7C7-024B664A0313}"/>
              </a:ext>
            </a:extLst>
          </p:cNvPr>
          <p:cNvSpPr txBox="1"/>
          <p:nvPr/>
        </p:nvSpPr>
        <p:spPr>
          <a:xfrm>
            <a:off x="6762750" y="2505343"/>
            <a:ext cx="238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i="0" dirty="0">
                <a:solidFill>
                  <a:schemeClr val="bg1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Mentor 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  <a:latin typeface="Catamaran Thin" panose="020B0604020202020204" charset="0"/>
                <a:cs typeface="Catamaran Thin" panose="020B0604020202020204" charset="0"/>
              </a:rPr>
              <a:t>Esaki Rahul Sir</a:t>
            </a:r>
          </a:p>
          <a:p>
            <a:pPr algn="r"/>
            <a:endParaRPr lang="en-IN" sz="1800" b="1" i="0" dirty="0">
              <a:solidFill>
                <a:schemeClr val="bg1"/>
              </a:solidFill>
              <a:effectLst/>
              <a:latin typeface="Catamaran" panose="020B0604020202020204" charset="0"/>
              <a:cs typeface="Catamaran" panose="020B0604020202020204" charset="0"/>
            </a:endParaRPr>
          </a:p>
          <a:p>
            <a:pPr algn="r"/>
            <a:r>
              <a:rPr lang="en-IN" sz="1800" b="1" i="0" dirty="0">
                <a:solidFill>
                  <a:schemeClr val="bg1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Team Members</a:t>
            </a:r>
          </a:p>
          <a:p>
            <a:pPr algn="r"/>
            <a:r>
              <a:rPr lang="en-US" sz="1800" dirty="0" err="1">
                <a:solidFill>
                  <a:schemeClr val="bg1"/>
                </a:solidFill>
                <a:latin typeface="Catamaran Thin" panose="020B0604020202020204" charset="0"/>
                <a:cs typeface="Catamaran Thin" panose="020B0604020202020204" charset="0"/>
              </a:rPr>
              <a:t>Supriya</a:t>
            </a:r>
            <a:endParaRPr lang="en-US" sz="1800" dirty="0">
              <a:solidFill>
                <a:schemeClr val="bg1"/>
              </a:solidFill>
              <a:latin typeface="Catamaran Thin" panose="020B0604020202020204" charset="0"/>
              <a:cs typeface="Catamaran Thin" panose="020B0604020202020204" charset="0"/>
            </a:endParaRPr>
          </a:p>
          <a:p>
            <a:pPr algn="r"/>
            <a:r>
              <a:rPr lang="en-IN" sz="1800" dirty="0" err="1">
                <a:solidFill>
                  <a:schemeClr val="bg1"/>
                </a:solidFill>
                <a:latin typeface="Catamaran Thin" panose="020B0604020202020204" charset="0"/>
                <a:cs typeface="Catamaran Thin" panose="020B0604020202020204" charset="0"/>
              </a:rPr>
              <a:t>Gobikha</a:t>
            </a:r>
            <a:endParaRPr lang="en-US" sz="1800" dirty="0">
              <a:solidFill>
                <a:schemeClr val="bg1"/>
              </a:solidFill>
              <a:latin typeface="Catamaran Thin" panose="020B0604020202020204" charset="0"/>
              <a:cs typeface="Catamaran Thin" panose="020B0604020202020204" charset="0"/>
            </a:endParaRPr>
          </a:p>
          <a:p>
            <a:pPr algn="r"/>
            <a:r>
              <a:rPr lang="en-US" sz="1800" dirty="0">
                <a:solidFill>
                  <a:schemeClr val="bg1"/>
                </a:solidFill>
                <a:latin typeface="Catamaran Thin" panose="020B0604020202020204" charset="0"/>
                <a:cs typeface="Catamaran Thin" panose="020B0604020202020204" charset="0"/>
              </a:rPr>
              <a:t>Harish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  <a:latin typeface="Catamaran Thin" panose="020B0604020202020204" charset="0"/>
                <a:cs typeface="Catamaran Thin" panose="020B0604020202020204" charset="0"/>
              </a:rPr>
              <a:t>LOKESH</a:t>
            </a:r>
          </a:p>
          <a:p>
            <a:pPr algn="r"/>
            <a:endParaRPr lang="en-US" sz="1800" b="1" dirty="0">
              <a:solidFill>
                <a:schemeClr val="bg1"/>
              </a:solidFill>
              <a:latin typeface="Catamaran Thin" panose="020B0604020202020204" charset="0"/>
              <a:cs typeface="Catamaran Thin" panose="020B0604020202020204" charset="0"/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D6290-DB54-4F05-A9CD-2FC7334BA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36809" y="2449382"/>
            <a:ext cx="2381250" cy="2381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BD91B1-37E3-4846-ABF0-8F35C5ABE7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5274" b="35083"/>
          <a:stretch/>
        </p:blipFill>
        <p:spPr>
          <a:xfrm>
            <a:off x="-529754" y="281836"/>
            <a:ext cx="6013358" cy="1782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b="1" i="0" u="none" strike="noStrike" dirty="0">
                <a:effectLst/>
                <a:latin typeface="Catamaran" panose="020B0604020202020204" charset="0"/>
                <a:cs typeface="Catamaran" panose="020B0604020202020204" charset="0"/>
              </a:rPr>
              <a:t>Project Overview &amp;</a:t>
            </a:r>
            <a:r>
              <a:rPr lang="en-IN" b="1" i="0" dirty="0">
                <a:effectLst/>
                <a:latin typeface="Catamaran" panose="020B0604020202020204" charset="0"/>
                <a:cs typeface="Catamaran" panose="020B0604020202020204" charset="0"/>
              </a:rPr>
              <a:t> Objectives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779074" y="1503550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70920" y="1475769"/>
            <a:ext cx="3525297" cy="3268500"/>
          </a:xfrm>
        </p:spPr>
        <p:txBody>
          <a:bodyPr/>
          <a:lstStyle/>
          <a:p>
            <a:r>
              <a:rPr lang="en-US" sz="1400" b="1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Automate event creation, scheduling, and task assignment</a:t>
            </a:r>
          </a:p>
          <a:p>
            <a:endParaRPr lang="en-US" sz="1400" b="1" i="0" dirty="0">
              <a:solidFill>
                <a:srgbClr val="404040"/>
              </a:solidFill>
              <a:effectLst/>
              <a:latin typeface="Catamaran" panose="020B0604020202020204" charset="0"/>
              <a:cs typeface="Catamaran" panose="020B0604020202020204" charset="0"/>
            </a:endParaRPr>
          </a:p>
          <a:p>
            <a:r>
              <a:rPr lang="en-US" sz="1400" b="1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Provide an intuitive dashboard for quick insights</a:t>
            </a:r>
          </a:p>
          <a:p>
            <a:endParaRPr lang="en-US" sz="1400" b="1" i="0" dirty="0">
              <a:solidFill>
                <a:srgbClr val="404040"/>
              </a:solidFill>
              <a:effectLst/>
              <a:latin typeface="Catamaran" panose="020B0604020202020204" charset="0"/>
              <a:cs typeface="Catamaran" panose="020B0604020202020204" charset="0"/>
            </a:endParaRPr>
          </a:p>
          <a:p>
            <a:r>
              <a:rPr lang="en-US" sz="1400" b="1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Enable real-time synchronization across modules</a:t>
            </a:r>
          </a:p>
          <a:p>
            <a:endParaRPr lang="en-US" sz="1400" b="1" i="0" dirty="0">
              <a:solidFill>
                <a:srgbClr val="404040"/>
              </a:solidFill>
              <a:effectLst/>
              <a:latin typeface="Catamaran" panose="020B0604020202020204" charset="0"/>
              <a:cs typeface="Catamaran" panose="020B0604020202020204" charset="0"/>
            </a:endParaRPr>
          </a:p>
          <a:p>
            <a:r>
              <a:rPr lang="en-US" sz="1400" b="1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Improve productivity, collaboration, and accuracy in event management</a:t>
            </a:r>
            <a:endParaRPr lang="en-IN" sz="1400" b="0" i="0" dirty="0">
              <a:solidFill>
                <a:srgbClr val="404040"/>
              </a:solidFill>
              <a:effectLst/>
              <a:latin typeface="Catamaran" panose="020B0604020202020204" charset="0"/>
              <a:cs typeface="Catamaran" panose="020B0604020202020204" charset="0"/>
            </a:endParaRP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Technology Stack</a:t>
            </a:r>
          </a:p>
        </p:txBody>
      </p:sp>
      <p:sp>
        <p:nvSpPr>
          <p:cNvPr id="642" name="Google Shape;642;p4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43" name="Google Shape;643;p41"/>
          <p:cNvSpPr/>
          <p:nvPr/>
        </p:nvSpPr>
        <p:spPr>
          <a:xfrm>
            <a:off x="779100" y="1550050"/>
            <a:ext cx="3683400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Backend</a:t>
            </a:r>
            <a:endParaRPr b="1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lvl="0" indent="0" algn="l" rtl="0">
              <a:spcBef>
                <a:spcPts val="600"/>
              </a:spcBef>
              <a:buNone/>
            </a:pPr>
            <a:r>
              <a:rPr lang="en" sz="13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SpringBoot</a:t>
            </a:r>
          </a:p>
          <a:p>
            <a:pPr marL="0" lvl="0" indent="0" algn="l" rtl="0">
              <a:spcBef>
                <a:spcPts val="600"/>
              </a:spcBef>
              <a:buNone/>
            </a:pPr>
            <a:r>
              <a:rPr lang="en" sz="13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REST APIs (For web communication)</a:t>
            </a:r>
            <a:endParaRPr sz="1300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44" name="Google Shape;644;p41"/>
          <p:cNvSpPr/>
          <p:nvPr/>
        </p:nvSpPr>
        <p:spPr>
          <a:xfrm>
            <a:off x="4614885" y="1550050"/>
            <a:ext cx="3683400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Database</a:t>
            </a: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PostgreSQL</a:t>
            </a:r>
          </a:p>
        </p:txBody>
      </p:sp>
      <p:sp>
        <p:nvSpPr>
          <p:cNvPr id="645" name="Google Shape;645;p41"/>
          <p:cNvSpPr/>
          <p:nvPr/>
        </p:nvSpPr>
        <p:spPr>
          <a:xfrm>
            <a:off x="779099" y="3089941"/>
            <a:ext cx="3956382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b="1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REACT</a:t>
            </a:r>
            <a:r>
              <a:rPr lang="en-IN" sz="1300" b="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 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Responsive and dynamic user experience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Frontend</a:t>
            </a:r>
            <a:endParaRPr lang="en-IN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46" name="Google Shape;646;p41"/>
          <p:cNvSpPr/>
          <p:nvPr/>
        </p:nvSpPr>
        <p:spPr>
          <a:xfrm>
            <a:off x="4614885" y="3088285"/>
            <a:ext cx="3683400" cy="1387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Git (Version Control) / GitHub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F</a:t>
            </a:r>
            <a:r>
              <a:rPr lang="en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or  Collaboration</a:t>
            </a: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Version Control</a:t>
            </a:r>
            <a:endParaRPr lang="en-IN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47" name="Google Shape;647;p41"/>
          <p:cNvSpPr/>
          <p:nvPr/>
        </p:nvSpPr>
        <p:spPr>
          <a:xfrm>
            <a:off x="3405163" y="1878422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1"/>
          <p:cNvSpPr/>
          <p:nvPr/>
        </p:nvSpPr>
        <p:spPr>
          <a:xfrm rot="5400000">
            <a:off x="3557886" y="1878422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1"/>
          <p:cNvSpPr/>
          <p:nvPr/>
        </p:nvSpPr>
        <p:spPr>
          <a:xfrm rot="10800000">
            <a:off x="3557886" y="2032323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1"/>
          <p:cNvSpPr/>
          <p:nvPr/>
        </p:nvSpPr>
        <p:spPr>
          <a:xfrm rot="-5400000">
            <a:off x="3405163" y="2032323"/>
            <a:ext cx="2116500" cy="211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1"/>
          <p:cNvSpPr/>
          <p:nvPr/>
        </p:nvSpPr>
        <p:spPr>
          <a:xfrm>
            <a:off x="3892462" y="2319932"/>
            <a:ext cx="314767" cy="4007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1" i="0" dirty="0">
              <a:ln>
                <a:noFill/>
              </a:ln>
              <a:solidFill>
                <a:schemeClr val="lt1"/>
              </a:solidFill>
              <a:latin typeface="Arial"/>
            </a:endParaRPr>
          </a:p>
        </p:txBody>
      </p:sp>
      <p:grpSp>
        <p:nvGrpSpPr>
          <p:cNvPr id="2" name="Google Shape;1010;p47">
            <a:extLst>
              <a:ext uri="{FF2B5EF4-FFF2-40B4-BE49-F238E27FC236}">
                <a16:creationId xmlns:a16="http://schemas.microsoft.com/office/drawing/2014/main" id="{748A1023-B6A7-2F54-68FD-7D69C61C3F20}"/>
              </a:ext>
            </a:extLst>
          </p:cNvPr>
          <p:cNvGrpSpPr/>
          <p:nvPr/>
        </p:nvGrpSpPr>
        <p:grpSpPr>
          <a:xfrm>
            <a:off x="72318" y="875905"/>
            <a:ext cx="427781" cy="316489"/>
            <a:chOff x="5255200" y="3006475"/>
            <a:chExt cx="511700" cy="378575"/>
          </a:xfrm>
          <a:solidFill>
            <a:schemeClr val="bg1"/>
          </a:solidFill>
        </p:grpSpPr>
        <p:sp>
          <p:nvSpPr>
            <p:cNvPr id="4" name="Google Shape;1011;p47">
              <a:extLst>
                <a:ext uri="{FF2B5EF4-FFF2-40B4-BE49-F238E27FC236}">
                  <a16:creationId xmlns:a16="http://schemas.microsoft.com/office/drawing/2014/main" id="{8658718D-A529-9A98-E13D-A0BF8F3D29F9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" name="Google Shape;1012;p47">
              <a:extLst>
                <a:ext uri="{FF2B5EF4-FFF2-40B4-BE49-F238E27FC236}">
                  <a16:creationId xmlns:a16="http://schemas.microsoft.com/office/drawing/2014/main" id="{07172055-F0BD-290F-2974-B7D03F58FAA8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2052" name="Picture 4" descr="Front end Icons, Logos, Symbols – Free Download PNG, SVG">
            <a:extLst>
              <a:ext uri="{FF2B5EF4-FFF2-40B4-BE49-F238E27FC236}">
                <a16:creationId xmlns:a16="http://schemas.microsoft.com/office/drawing/2014/main" id="{8D32E9F8-C738-FAAF-A228-FB7983C06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350" y="3146396"/>
            <a:ext cx="563769" cy="59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7C3C21-6BE6-F2ED-44A8-1516C42B6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481" y="2183058"/>
            <a:ext cx="625937" cy="674495"/>
          </a:xfrm>
          <a:prstGeom prst="rect">
            <a:avLst/>
          </a:prstGeom>
        </p:spPr>
      </p:pic>
      <p:pic>
        <p:nvPicPr>
          <p:cNvPr id="2056" name="Picture 8" descr="Devops - Free security icons">
            <a:extLst>
              <a:ext uri="{FF2B5EF4-FFF2-40B4-BE49-F238E27FC236}">
                <a16:creationId xmlns:a16="http://schemas.microsoft.com/office/drawing/2014/main" id="{1C4F2CD6-7BB1-E615-572D-1F0219978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481" y="3127497"/>
            <a:ext cx="689051" cy="75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F4DBA0-97DC-48C3-A5E3-CFB55060EE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284" y="-1034721"/>
            <a:ext cx="751840" cy="751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FD7810-66D8-4E03-951E-9160F3BFB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7547" y="2330018"/>
            <a:ext cx="907723" cy="477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>
            <a:spLocks noGrp="1"/>
          </p:cNvSpPr>
          <p:nvPr>
            <p:ph type="title"/>
          </p:nvPr>
        </p:nvSpPr>
        <p:spPr>
          <a:xfrm>
            <a:off x="779100" y="665818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Catamaran" panose="020B0604020202020204" charset="0"/>
                <a:cs typeface="Catamaran" panose="020B0604020202020204" charset="0"/>
              </a:rPr>
              <a:t>User</a:t>
            </a:r>
            <a:r>
              <a:rPr lang="en-IN" b="1" i="0" dirty="0">
                <a:effectLst/>
                <a:latin typeface="Catamaran" panose="020B0604020202020204" charset="0"/>
                <a:cs typeface="Catamaran" panose="020B0604020202020204" charset="0"/>
              </a:rPr>
              <a:t> Dashboard </a:t>
            </a:r>
            <a:endParaRPr lang="en-IN" dirty="0"/>
          </a:p>
        </p:txBody>
      </p:sp>
      <p:sp>
        <p:nvSpPr>
          <p:cNvPr id="422" name="Google Shape;422;p29"/>
          <p:cNvSpPr txBox="1">
            <a:spLocks noGrp="1"/>
          </p:cNvSpPr>
          <p:nvPr>
            <p:ph type="body" idx="1"/>
          </p:nvPr>
        </p:nvSpPr>
        <p:spPr>
          <a:xfrm>
            <a:off x="-2079900" y="22071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INTUITIVE SUBMISSION PORTAL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Users can easily submit grievances through a user-friendly interface.</a:t>
            </a:r>
          </a:p>
        </p:txBody>
      </p:sp>
      <p:sp>
        <p:nvSpPr>
          <p:cNvPr id="423" name="Google Shape;423;p29"/>
          <p:cNvSpPr txBox="1">
            <a:spLocks noGrp="1"/>
          </p:cNvSpPr>
          <p:nvPr>
            <p:ph type="body" idx="2"/>
          </p:nvPr>
        </p:nvSpPr>
        <p:spPr>
          <a:xfrm>
            <a:off x="-2175801" y="6658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COMPREHENSIVE TRACKING INTERFACE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Track the status of grievances from submission to resolution effortlessly. </a:t>
            </a:r>
            <a:endParaRPr sz="1200" dirty="0"/>
          </a:p>
        </p:txBody>
      </p:sp>
      <p:sp>
        <p:nvSpPr>
          <p:cNvPr id="424" name="Google Shape;424;p29"/>
          <p:cNvSpPr txBox="1">
            <a:spLocks noGrp="1"/>
          </p:cNvSpPr>
          <p:nvPr>
            <p:ph type="body" idx="3"/>
          </p:nvPr>
        </p:nvSpPr>
        <p:spPr>
          <a:xfrm>
            <a:off x="1282521" y="5255379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VISUAL STATUS PIPELINE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Grievances are displayed in a visual status pipeline: Received - In Progress Resolved. </a:t>
            </a:r>
          </a:p>
        </p:txBody>
      </p:sp>
      <p:sp>
        <p:nvSpPr>
          <p:cNvPr id="425" name="Google Shape;425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-747263" y="5193275"/>
            <a:ext cx="2029784" cy="13549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USER FEEDBACK MECHANISM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Collects user feedback post-resolution to enhance service quality.</a:t>
            </a:r>
          </a:p>
        </p:txBody>
      </p:sp>
      <p:sp>
        <p:nvSpPr>
          <p:cNvPr id="2" name="Google Shape;228;p15">
            <a:extLst>
              <a:ext uri="{FF2B5EF4-FFF2-40B4-BE49-F238E27FC236}">
                <a16:creationId xmlns:a16="http://schemas.microsoft.com/office/drawing/2014/main" id="{65E0E619-D9E7-612C-9E65-92AAE11FE293}"/>
              </a:ext>
            </a:extLst>
          </p:cNvPr>
          <p:cNvSpPr txBox="1"/>
          <p:nvPr/>
        </p:nvSpPr>
        <p:spPr>
          <a:xfrm>
            <a:off x="52039" y="863968"/>
            <a:ext cx="431181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1</a:t>
            </a:r>
            <a:endParaRPr sz="3600" b="1"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" name="Google Shape;227;p15">
            <a:extLst>
              <a:ext uri="{FF2B5EF4-FFF2-40B4-BE49-F238E27FC236}">
                <a16:creationId xmlns:a16="http://schemas.microsoft.com/office/drawing/2014/main" id="{6D920D8C-8431-616B-BFCF-88DBC7D3F3F8}"/>
              </a:ext>
            </a:extLst>
          </p:cNvPr>
          <p:cNvSpPr txBox="1">
            <a:spLocks/>
          </p:cNvSpPr>
          <p:nvPr/>
        </p:nvSpPr>
        <p:spPr>
          <a:xfrm>
            <a:off x="-528840" y="-459648"/>
            <a:ext cx="6348196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⬢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pPr marL="0" indent="0">
              <a:spcAft>
                <a:spcPts val="800"/>
              </a:spcAft>
              <a:buFont typeface="Catamaran Thin"/>
              <a:buNone/>
            </a:pPr>
            <a:r>
              <a:rPr lang="en-US" sz="1400" dirty="0">
                <a:solidFill>
                  <a:srgbClr val="404040"/>
                </a:solidFill>
                <a:latin typeface="Catamaran Thin" panose="020B0604020202020204" charset="0"/>
                <a:cs typeface="Catamaran Thin" panose="020B0604020202020204" charset="0"/>
              </a:rPr>
              <a:t>Enable transparent grievance submission and tracking for end-users</a:t>
            </a:r>
            <a:endParaRPr lang="en-US" sz="1400" dirty="0"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F53F-709D-E1BD-34A4-BB9D8747F8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957920" y="-939568"/>
            <a:ext cx="4914453" cy="297191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8B3EE-4C4B-4B1D-877A-A44CE8CD8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650" y="1349818"/>
            <a:ext cx="6155413" cy="297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ECDD85-53BA-4660-A62C-0911C496FBCA}"/>
              </a:ext>
            </a:extLst>
          </p:cNvPr>
          <p:cNvSpPr/>
          <p:nvPr/>
        </p:nvSpPr>
        <p:spPr>
          <a:xfrm>
            <a:off x="680793" y="1349818"/>
            <a:ext cx="1964956" cy="2971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D0018-6B7F-4A84-A1C4-38A0839875BC}"/>
              </a:ext>
            </a:extLst>
          </p:cNvPr>
          <p:cNvSpPr txBox="1"/>
          <p:nvPr/>
        </p:nvSpPr>
        <p:spPr>
          <a:xfrm>
            <a:off x="680793" y="1452910"/>
            <a:ext cx="22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UI - Main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46A4E-B63D-431D-845A-C4B35C8D1643}"/>
              </a:ext>
            </a:extLst>
          </p:cNvPr>
          <p:cNvSpPr txBox="1"/>
          <p:nvPr/>
        </p:nvSpPr>
        <p:spPr>
          <a:xfrm>
            <a:off x="779100" y="1932709"/>
            <a:ext cx="174242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Central hub with navigation &amp; widgets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Sidebar for quick access (Events, Calendar, Tasks)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Real-time overview (upcoming events, pending tasks)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Consistent layout across pages</a:t>
            </a:r>
            <a:endParaRPr lang="en-IN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76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>
            <a:spLocks noGrp="1"/>
          </p:cNvSpPr>
          <p:nvPr>
            <p:ph type="title"/>
          </p:nvPr>
        </p:nvSpPr>
        <p:spPr>
          <a:xfrm>
            <a:off x="779100" y="665818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0" dirty="0">
                <a:effectLst/>
                <a:latin typeface="Catamaran" panose="020B0604020202020204" charset="0"/>
                <a:cs typeface="Catamaran" panose="020B0604020202020204" charset="0"/>
              </a:rPr>
              <a:t> Event Dashboard</a:t>
            </a:r>
            <a:endParaRPr lang="en-IN" dirty="0"/>
          </a:p>
        </p:txBody>
      </p:sp>
      <p:sp>
        <p:nvSpPr>
          <p:cNvPr id="422" name="Google Shape;422;p29"/>
          <p:cNvSpPr txBox="1">
            <a:spLocks noGrp="1"/>
          </p:cNvSpPr>
          <p:nvPr>
            <p:ph type="body" idx="1"/>
          </p:nvPr>
        </p:nvSpPr>
        <p:spPr>
          <a:xfrm>
            <a:off x="-2079900" y="22071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INTUITIVE SUBMISSION PORTAL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Users can easily submit grievances through a user-friendly interface.</a:t>
            </a:r>
          </a:p>
        </p:txBody>
      </p:sp>
      <p:sp>
        <p:nvSpPr>
          <p:cNvPr id="423" name="Google Shape;423;p29"/>
          <p:cNvSpPr txBox="1">
            <a:spLocks noGrp="1"/>
          </p:cNvSpPr>
          <p:nvPr>
            <p:ph type="body" idx="2"/>
          </p:nvPr>
        </p:nvSpPr>
        <p:spPr>
          <a:xfrm>
            <a:off x="-2175801" y="6658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COMPREHENSIVE TRACKING INTERFACE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Track the status of grievances from submission to resolution effortlessly. </a:t>
            </a:r>
            <a:endParaRPr sz="1200" dirty="0"/>
          </a:p>
        </p:txBody>
      </p:sp>
      <p:sp>
        <p:nvSpPr>
          <p:cNvPr id="424" name="Google Shape;424;p29"/>
          <p:cNvSpPr txBox="1">
            <a:spLocks noGrp="1"/>
          </p:cNvSpPr>
          <p:nvPr>
            <p:ph type="body" idx="3"/>
          </p:nvPr>
        </p:nvSpPr>
        <p:spPr>
          <a:xfrm>
            <a:off x="1282521" y="5255379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VISUAL STATUS PIPELINE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Grievances are displayed in a visual status pipeline: Received - In Progress Resolved. </a:t>
            </a:r>
          </a:p>
        </p:txBody>
      </p:sp>
      <p:sp>
        <p:nvSpPr>
          <p:cNvPr id="425" name="Google Shape;425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-747263" y="5193275"/>
            <a:ext cx="2029784" cy="13549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USER FEEDBACK MECHANISM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Collects user feedback post-resolution to enhance service quality.</a:t>
            </a:r>
          </a:p>
        </p:txBody>
      </p:sp>
      <p:sp>
        <p:nvSpPr>
          <p:cNvPr id="2" name="Google Shape;228;p15">
            <a:extLst>
              <a:ext uri="{FF2B5EF4-FFF2-40B4-BE49-F238E27FC236}">
                <a16:creationId xmlns:a16="http://schemas.microsoft.com/office/drawing/2014/main" id="{65E0E619-D9E7-612C-9E65-92AAE11FE293}"/>
              </a:ext>
            </a:extLst>
          </p:cNvPr>
          <p:cNvSpPr txBox="1"/>
          <p:nvPr/>
        </p:nvSpPr>
        <p:spPr>
          <a:xfrm>
            <a:off x="52039" y="863968"/>
            <a:ext cx="431181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2</a:t>
            </a:r>
            <a:endParaRPr sz="3600" b="1"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" name="Google Shape;227;p15">
            <a:extLst>
              <a:ext uri="{FF2B5EF4-FFF2-40B4-BE49-F238E27FC236}">
                <a16:creationId xmlns:a16="http://schemas.microsoft.com/office/drawing/2014/main" id="{6D920D8C-8431-616B-BFCF-88DBC7D3F3F8}"/>
              </a:ext>
            </a:extLst>
          </p:cNvPr>
          <p:cNvSpPr txBox="1">
            <a:spLocks/>
          </p:cNvSpPr>
          <p:nvPr/>
        </p:nvSpPr>
        <p:spPr>
          <a:xfrm>
            <a:off x="-528840" y="-459648"/>
            <a:ext cx="6348196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⬢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pPr marL="0" indent="0">
              <a:spcAft>
                <a:spcPts val="800"/>
              </a:spcAft>
              <a:buFont typeface="Catamaran Thin"/>
              <a:buNone/>
            </a:pPr>
            <a:r>
              <a:rPr lang="en-US" sz="1400" dirty="0">
                <a:solidFill>
                  <a:srgbClr val="404040"/>
                </a:solidFill>
                <a:latin typeface="Catamaran Thin" panose="020B0604020202020204" charset="0"/>
                <a:cs typeface="Catamaran Thin" panose="020B0604020202020204" charset="0"/>
              </a:rPr>
              <a:t>Enable transparent grievance submission and tracking for end-users</a:t>
            </a:r>
            <a:endParaRPr lang="en-US" sz="1400" dirty="0"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F53F-709D-E1BD-34A4-BB9D8747F8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957920" y="-939568"/>
            <a:ext cx="4914453" cy="297191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8B3EE-4C4B-4B1D-877A-A44CE8CD8B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56516" y="1349818"/>
            <a:ext cx="6125680" cy="297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ECDD85-53BA-4660-A62C-0911C496FBCA}"/>
              </a:ext>
            </a:extLst>
          </p:cNvPr>
          <p:cNvSpPr/>
          <p:nvPr/>
        </p:nvSpPr>
        <p:spPr>
          <a:xfrm>
            <a:off x="680793" y="1349818"/>
            <a:ext cx="1964956" cy="2971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D0018-6B7F-4A84-A1C4-38A0839875BC}"/>
              </a:ext>
            </a:extLst>
          </p:cNvPr>
          <p:cNvSpPr txBox="1"/>
          <p:nvPr/>
        </p:nvSpPr>
        <p:spPr>
          <a:xfrm>
            <a:off x="618447" y="1469107"/>
            <a:ext cx="22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   Event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46A4E-B63D-431D-845A-C4B35C8D1643}"/>
              </a:ext>
            </a:extLst>
          </p:cNvPr>
          <p:cNvSpPr txBox="1"/>
          <p:nvPr/>
        </p:nvSpPr>
        <p:spPr>
          <a:xfrm>
            <a:off x="779100" y="1932709"/>
            <a:ext cx="17424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UI – Event Management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Event list with cards &amp; details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Add/Edit forms with validation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CRUD operations integrated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Search &amp; filter for events</a:t>
            </a:r>
            <a:endParaRPr lang="en-IN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58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>
            <a:spLocks noGrp="1"/>
          </p:cNvSpPr>
          <p:nvPr>
            <p:ph type="title"/>
          </p:nvPr>
        </p:nvSpPr>
        <p:spPr>
          <a:xfrm>
            <a:off x="779100" y="665818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0" dirty="0">
                <a:effectLst/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en-IN" dirty="0">
                <a:latin typeface="Catamaran" panose="020B0604020202020204" charset="0"/>
                <a:cs typeface="Catamaran" panose="020B0604020202020204" charset="0"/>
              </a:rPr>
              <a:t>Add New Event</a:t>
            </a:r>
            <a:endParaRPr lang="en-IN" dirty="0"/>
          </a:p>
        </p:txBody>
      </p:sp>
      <p:sp>
        <p:nvSpPr>
          <p:cNvPr id="422" name="Google Shape;422;p29"/>
          <p:cNvSpPr txBox="1">
            <a:spLocks noGrp="1"/>
          </p:cNvSpPr>
          <p:nvPr>
            <p:ph type="body" idx="1"/>
          </p:nvPr>
        </p:nvSpPr>
        <p:spPr>
          <a:xfrm>
            <a:off x="-2079900" y="22071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INTUITIVE SUBMISSION PORTAL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Users can easily submit grievances through a user-friendly interface.</a:t>
            </a:r>
          </a:p>
        </p:txBody>
      </p:sp>
      <p:sp>
        <p:nvSpPr>
          <p:cNvPr id="423" name="Google Shape;423;p29"/>
          <p:cNvSpPr txBox="1">
            <a:spLocks noGrp="1"/>
          </p:cNvSpPr>
          <p:nvPr>
            <p:ph type="body" idx="2"/>
          </p:nvPr>
        </p:nvSpPr>
        <p:spPr>
          <a:xfrm>
            <a:off x="-2175801" y="6658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COMPREHENSIVE TRACKING INTERFACE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Track the status of grievances from submission to resolution effortlessly. </a:t>
            </a:r>
            <a:endParaRPr sz="1200" dirty="0"/>
          </a:p>
        </p:txBody>
      </p:sp>
      <p:sp>
        <p:nvSpPr>
          <p:cNvPr id="424" name="Google Shape;424;p29"/>
          <p:cNvSpPr txBox="1">
            <a:spLocks noGrp="1"/>
          </p:cNvSpPr>
          <p:nvPr>
            <p:ph type="body" idx="3"/>
          </p:nvPr>
        </p:nvSpPr>
        <p:spPr>
          <a:xfrm>
            <a:off x="1282521" y="5255379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VISUAL STATUS PIPELINE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Grievances are displayed in a visual status pipeline: Received - In Progress Resolved. </a:t>
            </a:r>
          </a:p>
        </p:txBody>
      </p:sp>
      <p:sp>
        <p:nvSpPr>
          <p:cNvPr id="425" name="Google Shape;425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-747263" y="5193275"/>
            <a:ext cx="2029784" cy="13549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USER FEEDBACK MECHANISM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Collects user feedback post-resolution to enhance service quality.</a:t>
            </a:r>
          </a:p>
        </p:txBody>
      </p:sp>
      <p:sp>
        <p:nvSpPr>
          <p:cNvPr id="2" name="Google Shape;228;p15">
            <a:extLst>
              <a:ext uri="{FF2B5EF4-FFF2-40B4-BE49-F238E27FC236}">
                <a16:creationId xmlns:a16="http://schemas.microsoft.com/office/drawing/2014/main" id="{65E0E619-D9E7-612C-9E65-92AAE11FE293}"/>
              </a:ext>
            </a:extLst>
          </p:cNvPr>
          <p:cNvSpPr txBox="1"/>
          <p:nvPr/>
        </p:nvSpPr>
        <p:spPr>
          <a:xfrm>
            <a:off x="52039" y="863968"/>
            <a:ext cx="431181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3</a:t>
            </a:r>
            <a:endParaRPr sz="3600" b="1"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" name="Google Shape;227;p15">
            <a:extLst>
              <a:ext uri="{FF2B5EF4-FFF2-40B4-BE49-F238E27FC236}">
                <a16:creationId xmlns:a16="http://schemas.microsoft.com/office/drawing/2014/main" id="{6D920D8C-8431-616B-BFCF-88DBC7D3F3F8}"/>
              </a:ext>
            </a:extLst>
          </p:cNvPr>
          <p:cNvSpPr txBox="1">
            <a:spLocks/>
          </p:cNvSpPr>
          <p:nvPr/>
        </p:nvSpPr>
        <p:spPr>
          <a:xfrm>
            <a:off x="-528840" y="-459648"/>
            <a:ext cx="6348196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⬢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pPr marL="0" indent="0">
              <a:spcAft>
                <a:spcPts val="800"/>
              </a:spcAft>
              <a:buFont typeface="Catamaran Thin"/>
              <a:buNone/>
            </a:pPr>
            <a:r>
              <a:rPr lang="en-US" sz="1400" dirty="0">
                <a:solidFill>
                  <a:srgbClr val="404040"/>
                </a:solidFill>
                <a:latin typeface="Catamaran Thin" panose="020B0604020202020204" charset="0"/>
                <a:cs typeface="Catamaran Thin" panose="020B0604020202020204" charset="0"/>
              </a:rPr>
              <a:t>Enable transparent grievance submission and tracking for end-users</a:t>
            </a:r>
            <a:endParaRPr lang="en-US" sz="1400" dirty="0"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F53F-709D-E1BD-34A4-BB9D8747F8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957920" y="-939568"/>
            <a:ext cx="4914453" cy="297191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8B3EE-4C4B-4B1D-877A-A44CE8CD8B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61440" y="1349818"/>
            <a:ext cx="6115831" cy="297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ECDD85-53BA-4660-A62C-0911C496FBCA}"/>
              </a:ext>
            </a:extLst>
          </p:cNvPr>
          <p:cNvSpPr/>
          <p:nvPr/>
        </p:nvSpPr>
        <p:spPr>
          <a:xfrm>
            <a:off x="680793" y="1349818"/>
            <a:ext cx="1964956" cy="2971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D0018-6B7F-4A84-A1C4-38A0839875BC}"/>
              </a:ext>
            </a:extLst>
          </p:cNvPr>
          <p:cNvSpPr txBox="1"/>
          <p:nvPr/>
        </p:nvSpPr>
        <p:spPr>
          <a:xfrm>
            <a:off x="776694" y="1415320"/>
            <a:ext cx="22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   Add New Event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46A4E-B63D-431D-845A-C4B35C8D1643}"/>
              </a:ext>
            </a:extLst>
          </p:cNvPr>
          <p:cNvSpPr txBox="1"/>
          <p:nvPr/>
        </p:nvSpPr>
        <p:spPr>
          <a:xfrm>
            <a:off x="776694" y="1759503"/>
            <a:ext cx="17424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Event Form (Add/Edit)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Input fields: Title, Date, Time, Venue, Description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Dropdowns for Category &amp; Priority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Validation for mandatory fields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Edit option to update existing event</a:t>
            </a:r>
            <a:endParaRPr lang="en-IN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84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>
            <a:spLocks noGrp="1"/>
          </p:cNvSpPr>
          <p:nvPr>
            <p:ph type="title"/>
          </p:nvPr>
        </p:nvSpPr>
        <p:spPr>
          <a:xfrm>
            <a:off x="779100" y="665818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0" dirty="0">
                <a:effectLst/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en-IN" dirty="0">
                <a:latin typeface="Catamaran" panose="020B0604020202020204" charset="0"/>
                <a:cs typeface="Catamaran" panose="020B0604020202020204" charset="0"/>
              </a:rPr>
              <a:t>Calendar Dashboard</a:t>
            </a:r>
            <a:endParaRPr lang="en-IN" dirty="0"/>
          </a:p>
        </p:txBody>
      </p:sp>
      <p:sp>
        <p:nvSpPr>
          <p:cNvPr id="422" name="Google Shape;422;p29"/>
          <p:cNvSpPr txBox="1">
            <a:spLocks noGrp="1"/>
          </p:cNvSpPr>
          <p:nvPr>
            <p:ph type="body" idx="1"/>
          </p:nvPr>
        </p:nvSpPr>
        <p:spPr>
          <a:xfrm>
            <a:off x="-2079900" y="22071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INTUITIVE SUBMISSION PORTAL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Users can easily submit grievances through a user-friendly interface.</a:t>
            </a:r>
          </a:p>
        </p:txBody>
      </p:sp>
      <p:sp>
        <p:nvSpPr>
          <p:cNvPr id="423" name="Google Shape;423;p29"/>
          <p:cNvSpPr txBox="1">
            <a:spLocks noGrp="1"/>
          </p:cNvSpPr>
          <p:nvPr>
            <p:ph type="body" idx="2"/>
          </p:nvPr>
        </p:nvSpPr>
        <p:spPr>
          <a:xfrm>
            <a:off x="-2175801" y="6658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COMPREHENSIVE TRACKING INTERFACE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Track the status of grievances from submission to resolution effortlessly. </a:t>
            </a:r>
            <a:endParaRPr sz="1200" dirty="0"/>
          </a:p>
        </p:txBody>
      </p:sp>
      <p:sp>
        <p:nvSpPr>
          <p:cNvPr id="424" name="Google Shape;424;p29"/>
          <p:cNvSpPr txBox="1">
            <a:spLocks noGrp="1"/>
          </p:cNvSpPr>
          <p:nvPr>
            <p:ph type="body" idx="3"/>
          </p:nvPr>
        </p:nvSpPr>
        <p:spPr>
          <a:xfrm>
            <a:off x="1282521" y="5255379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VISUAL STATUS PIPELINE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Grievances are displayed in a visual status pipeline: Received - In Progress Resolved. </a:t>
            </a:r>
          </a:p>
        </p:txBody>
      </p:sp>
      <p:sp>
        <p:nvSpPr>
          <p:cNvPr id="425" name="Google Shape;425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-747263" y="5193275"/>
            <a:ext cx="2029784" cy="13549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USER FEEDBACK MECHANISM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Collects user feedback post-resolution to enhance service quality.</a:t>
            </a:r>
          </a:p>
        </p:txBody>
      </p:sp>
      <p:sp>
        <p:nvSpPr>
          <p:cNvPr id="2" name="Google Shape;228;p15">
            <a:extLst>
              <a:ext uri="{FF2B5EF4-FFF2-40B4-BE49-F238E27FC236}">
                <a16:creationId xmlns:a16="http://schemas.microsoft.com/office/drawing/2014/main" id="{65E0E619-D9E7-612C-9E65-92AAE11FE293}"/>
              </a:ext>
            </a:extLst>
          </p:cNvPr>
          <p:cNvSpPr txBox="1"/>
          <p:nvPr/>
        </p:nvSpPr>
        <p:spPr>
          <a:xfrm>
            <a:off x="52039" y="863968"/>
            <a:ext cx="431181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4</a:t>
            </a:r>
            <a:endParaRPr sz="3600" b="1"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" name="Google Shape;227;p15">
            <a:extLst>
              <a:ext uri="{FF2B5EF4-FFF2-40B4-BE49-F238E27FC236}">
                <a16:creationId xmlns:a16="http://schemas.microsoft.com/office/drawing/2014/main" id="{6D920D8C-8431-616B-BFCF-88DBC7D3F3F8}"/>
              </a:ext>
            </a:extLst>
          </p:cNvPr>
          <p:cNvSpPr txBox="1">
            <a:spLocks/>
          </p:cNvSpPr>
          <p:nvPr/>
        </p:nvSpPr>
        <p:spPr>
          <a:xfrm>
            <a:off x="-528840" y="-459648"/>
            <a:ext cx="6348196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⬢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pPr marL="0" indent="0">
              <a:spcAft>
                <a:spcPts val="800"/>
              </a:spcAft>
              <a:buFont typeface="Catamaran Thin"/>
              <a:buNone/>
            </a:pPr>
            <a:r>
              <a:rPr lang="en-US" sz="1400" dirty="0">
                <a:solidFill>
                  <a:srgbClr val="404040"/>
                </a:solidFill>
                <a:latin typeface="Catamaran Thin" panose="020B0604020202020204" charset="0"/>
                <a:cs typeface="Catamaran Thin" panose="020B0604020202020204" charset="0"/>
              </a:rPr>
              <a:t>Enable transparent grievance submission and tracking for end-users</a:t>
            </a:r>
            <a:endParaRPr lang="en-US" sz="1400" dirty="0"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F53F-709D-E1BD-34A4-BB9D8747F8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957920" y="-939568"/>
            <a:ext cx="4914453" cy="297191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8B3EE-4C4B-4B1D-877A-A44CE8CD8B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71241" y="1349818"/>
            <a:ext cx="6096229" cy="297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ECDD85-53BA-4660-A62C-0911C496FBCA}"/>
              </a:ext>
            </a:extLst>
          </p:cNvPr>
          <p:cNvSpPr/>
          <p:nvPr/>
        </p:nvSpPr>
        <p:spPr>
          <a:xfrm>
            <a:off x="680793" y="1349818"/>
            <a:ext cx="1964956" cy="2971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D0018-6B7F-4A84-A1C4-38A0839875BC}"/>
              </a:ext>
            </a:extLst>
          </p:cNvPr>
          <p:cNvSpPr txBox="1"/>
          <p:nvPr/>
        </p:nvSpPr>
        <p:spPr>
          <a:xfrm>
            <a:off x="570237" y="1487852"/>
            <a:ext cx="22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   Calendar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46A4E-B63D-431D-845A-C4B35C8D1643}"/>
              </a:ext>
            </a:extLst>
          </p:cNvPr>
          <p:cNvSpPr txBox="1"/>
          <p:nvPr/>
        </p:nvSpPr>
        <p:spPr>
          <a:xfrm>
            <a:off x="776694" y="1933663"/>
            <a:ext cx="174242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Calendar &amp; Scheduling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Interactive calendar (day/week/month)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Tooltips for quick event details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Date selector for navigation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Sync with events in real-time</a:t>
            </a:r>
            <a:endParaRPr lang="en-IN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27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>
            <a:spLocks noGrp="1"/>
          </p:cNvSpPr>
          <p:nvPr>
            <p:ph type="title"/>
          </p:nvPr>
        </p:nvSpPr>
        <p:spPr>
          <a:xfrm>
            <a:off x="779100" y="665818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0" dirty="0">
                <a:effectLst/>
                <a:latin typeface="Catamaran" panose="020B0604020202020204" charset="0"/>
                <a:cs typeface="Catamaran" panose="020B0604020202020204" charset="0"/>
              </a:rPr>
              <a:t> Tasks Dashboard</a:t>
            </a:r>
            <a:endParaRPr lang="en-IN" dirty="0"/>
          </a:p>
        </p:txBody>
      </p:sp>
      <p:sp>
        <p:nvSpPr>
          <p:cNvPr id="422" name="Google Shape;422;p29"/>
          <p:cNvSpPr txBox="1">
            <a:spLocks noGrp="1"/>
          </p:cNvSpPr>
          <p:nvPr>
            <p:ph type="body" idx="1"/>
          </p:nvPr>
        </p:nvSpPr>
        <p:spPr>
          <a:xfrm>
            <a:off x="-2079900" y="22071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INTUITIVE SUBMISSION PORTAL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Users can easily submit grievances through a user-friendly interface.</a:t>
            </a:r>
          </a:p>
        </p:txBody>
      </p:sp>
      <p:sp>
        <p:nvSpPr>
          <p:cNvPr id="423" name="Google Shape;423;p29"/>
          <p:cNvSpPr txBox="1">
            <a:spLocks noGrp="1"/>
          </p:cNvSpPr>
          <p:nvPr>
            <p:ph type="body" idx="2"/>
          </p:nvPr>
        </p:nvSpPr>
        <p:spPr>
          <a:xfrm>
            <a:off x="-2175801" y="665818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COMPREHENSIVE TRACKING INTERFACE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Track the status of grievances from submission to resolution effortlessly. </a:t>
            </a:r>
            <a:endParaRPr sz="1200" dirty="0"/>
          </a:p>
        </p:txBody>
      </p:sp>
      <p:sp>
        <p:nvSpPr>
          <p:cNvPr id="424" name="Google Shape;424;p29"/>
          <p:cNvSpPr txBox="1">
            <a:spLocks noGrp="1"/>
          </p:cNvSpPr>
          <p:nvPr>
            <p:ph type="body" idx="3"/>
          </p:nvPr>
        </p:nvSpPr>
        <p:spPr>
          <a:xfrm>
            <a:off x="1282521" y="5255379"/>
            <a:ext cx="2079900" cy="136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VISUAL STATUS PIPELINE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Grievances are displayed in a visual status pipeline: Received - In Progress Resolved. </a:t>
            </a:r>
          </a:p>
        </p:txBody>
      </p:sp>
      <p:sp>
        <p:nvSpPr>
          <p:cNvPr id="425" name="Google Shape;425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-747263" y="5193275"/>
            <a:ext cx="2029784" cy="13549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/>
              <a:t>USER FEEDBACK MECHANISM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Collects user feedback post-resolution to enhance service quality.</a:t>
            </a:r>
          </a:p>
        </p:txBody>
      </p:sp>
      <p:sp>
        <p:nvSpPr>
          <p:cNvPr id="2" name="Google Shape;228;p15">
            <a:extLst>
              <a:ext uri="{FF2B5EF4-FFF2-40B4-BE49-F238E27FC236}">
                <a16:creationId xmlns:a16="http://schemas.microsoft.com/office/drawing/2014/main" id="{65E0E619-D9E7-612C-9E65-92AAE11FE293}"/>
              </a:ext>
            </a:extLst>
          </p:cNvPr>
          <p:cNvSpPr txBox="1"/>
          <p:nvPr/>
        </p:nvSpPr>
        <p:spPr>
          <a:xfrm>
            <a:off x="52039" y="863968"/>
            <a:ext cx="431181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5</a:t>
            </a:r>
            <a:endParaRPr sz="3600" b="1"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" name="Google Shape;227;p15">
            <a:extLst>
              <a:ext uri="{FF2B5EF4-FFF2-40B4-BE49-F238E27FC236}">
                <a16:creationId xmlns:a16="http://schemas.microsoft.com/office/drawing/2014/main" id="{6D920D8C-8431-616B-BFCF-88DBC7D3F3F8}"/>
              </a:ext>
            </a:extLst>
          </p:cNvPr>
          <p:cNvSpPr txBox="1">
            <a:spLocks/>
          </p:cNvSpPr>
          <p:nvPr/>
        </p:nvSpPr>
        <p:spPr>
          <a:xfrm>
            <a:off x="-528840" y="-459648"/>
            <a:ext cx="6348196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⬢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 Thin"/>
              <a:buChar char="⬡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●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Thin"/>
              <a:buChar char="○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800"/>
              <a:buFont typeface="Catamaran Thin"/>
              <a:buChar char="■"/>
              <a:defRPr sz="18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pPr marL="0" indent="0">
              <a:spcAft>
                <a:spcPts val="800"/>
              </a:spcAft>
              <a:buFont typeface="Catamaran Thin"/>
              <a:buNone/>
            </a:pPr>
            <a:r>
              <a:rPr lang="en-US" sz="1400" dirty="0">
                <a:solidFill>
                  <a:srgbClr val="404040"/>
                </a:solidFill>
                <a:latin typeface="Catamaran Thin" panose="020B0604020202020204" charset="0"/>
                <a:cs typeface="Catamaran Thin" panose="020B0604020202020204" charset="0"/>
              </a:rPr>
              <a:t>Enable transparent grievance submission and tracking for end-users</a:t>
            </a:r>
            <a:endParaRPr lang="en-US" sz="1400" dirty="0"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F53F-709D-E1BD-34A4-BB9D8747F8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957920" y="-939568"/>
            <a:ext cx="4914453" cy="297191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8B3EE-4C4B-4B1D-877A-A44CE8CD8B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56516" y="1349818"/>
            <a:ext cx="6125680" cy="29719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ECDD85-53BA-4660-A62C-0911C496FBCA}"/>
              </a:ext>
            </a:extLst>
          </p:cNvPr>
          <p:cNvSpPr/>
          <p:nvPr/>
        </p:nvSpPr>
        <p:spPr>
          <a:xfrm>
            <a:off x="680793" y="1349818"/>
            <a:ext cx="1964956" cy="2971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D0018-6B7F-4A84-A1C4-38A0839875BC}"/>
              </a:ext>
            </a:extLst>
          </p:cNvPr>
          <p:cNvSpPr txBox="1"/>
          <p:nvPr/>
        </p:nvSpPr>
        <p:spPr>
          <a:xfrm>
            <a:off x="680792" y="1485791"/>
            <a:ext cx="22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   Tasks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46A4E-B63D-431D-845A-C4B35C8D1643}"/>
              </a:ext>
            </a:extLst>
          </p:cNvPr>
          <p:cNvSpPr txBox="1"/>
          <p:nvPr/>
        </p:nvSpPr>
        <p:spPr>
          <a:xfrm>
            <a:off x="776694" y="1933663"/>
            <a:ext cx="17424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Task Management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Task list &amp; status indicators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Task cards with priority/deadlines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Add/Edit task form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Linked with global state &amp; events</a:t>
            </a:r>
            <a:endParaRPr lang="en-IN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20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IN" dirty="0">
                <a:latin typeface="Catamaran" panose="020B0604020202020204" charset="0"/>
                <a:cs typeface="Catamaran" panose="020B0604020202020204" charset="0"/>
              </a:rPr>
              <a:t>Event</a:t>
            </a:r>
            <a:r>
              <a:rPr lang="en-IN" b="1" i="0" dirty="0">
                <a:effectLst/>
                <a:latin typeface="Catamaran" panose="020B0604020202020204" charset="0"/>
                <a:cs typeface="Catamaran" panose="020B0604020202020204" charset="0"/>
              </a:rPr>
              <a:t> Lifecycle</a:t>
            </a:r>
            <a:endParaRPr lang="en-IN" b="0" i="0" dirty="0">
              <a:effectLst/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386" name="Google Shape;386;p28"/>
          <p:cNvSpPr txBox="1">
            <a:spLocks noGrp="1"/>
          </p:cNvSpPr>
          <p:nvPr>
            <p:ph type="sldNum" idx="12"/>
          </p:nvPr>
        </p:nvSpPr>
        <p:spPr>
          <a:xfrm>
            <a:off x="8555858" y="4725595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387" name="Google Shape;387;p28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388" name="Google Shape;388;p28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0" name="Google Shape;390;p28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392" name="Google Shape;392;p28"/>
          <p:cNvGrpSpPr/>
          <p:nvPr/>
        </p:nvGrpSpPr>
        <p:grpSpPr>
          <a:xfrm>
            <a:off x="664050" y="2548253"/>
            <a:ext cx="2590687" cy="1151444"/>
            <a:chOff x="754197" y="1986800"/>
            <a:chExt cx="2521441" cy="1289700"/>
          </a:xfrm>
        </p:grpSpPr>
        <p:sp>
          <p:nvSpPr>
            <p:cNvPr id="393" name="Google Shape;393;p28"/>
            <p:cNvSpPr txBox="1"/>
            <p:nvPr/>
          </p:nvSpPr>
          <p:spPr>
            <a:xfrm>
              <a:off x="754197" y="1986800"/>
              <a:ext cx="18486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ts val="2143"/>
                </a:lnSpc>
                <a:spcBef>
                  <a:spcPts val="1372"/>
                </a:spcBef>
                <a:spcAft>
                  <a:spcPts val="1029"/>
                </a:spcAft>
              </a:pPr>
              <a:endParaRPr sz="800" b="1" dirty="0">
                <a:solidFill>
                  <a:schemeClr val="tx1"/>
                </a:solidFill>
                <a:latin typeface="Catamaran" panose="020B0604020202020204" charset="0"/>
                <a:ea typeface="Catamaran"/>
                <a:cs typeface="Catamaran" panose="020B0604020202020204" charset="0"/>
                <a:sym typeface="Catamaran"/>
              </a:endParaRPr>
            </a:p>
          </p:txBody>
        </p:sp>
        <p:cxnSp>
          <p:nvCxnSpPr>
            <p:cNvPr id="394" name="Google Shape;394;p28"/>
            <p:cNvCxnSpPr/>
            <p:nvPr/>
          </p:nvCxnSpPr>
          <p:spPr>
            <a:xfrm rot="10800000">
              <a:off x="2642038" y="2647950"/>
              <a:ext cx="6336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401" name="Google Shape;401;p28"/>
          <p:cNvGrpSpPr/>
          <p:nvPr/>
        </p:nvGrpSpPr>
        <p:grpSpPr>
          <a:xfrm>
            <a:off x="2754432" y="1538150"/>
            <a:ext cx="3405884" cy="3384245"/>
            <a:chOff x="2662213" y="676344"/>
            <a:chExt cx="3814835" cy="3790597"/>
          </a:xfrm>
        </p:grpSpPr>
        <p:sp>
          <p:nvSpPr>
            <p:cNvPr id="402" name="Google Shape;402;p28"/>
            <p:cNvSpPr/>
            <p:nvPr/>
          </p:nvSpPr>
          <p:spPr>
            <a:xfrm rot="3600185">
              <a:off x="3169983" y="1184511"/>
              <a:ext cx="2774659" cy="2774659"/>
            </a:xfrm>
            <a:prstGeom prst="blockArc">
              <a:avLst>
                <a:gd name="adj1" fmla="val 12622480"/>
                <a:gd name="adj2" fmla="val 19781569"/>
                <a:gd name="adj3" fmla="val 2077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 rot="10800000">
              <a:off x="3183490" y="1163229"/>
              <a:ext cx="2774700" cy="2774700"/>
            </a:xfrm>
            <a:prstGeom prst="blockArc">
              <a:avLst>
                <a:gd name="adj1" fmla="val 12622480"/>
                <a:gd name="adj2" fmla="val 19662822"/>
                <a:gd name="adj3" fmla="val 2072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 rot="-3600185">
              <a:off x="3194618" y="1184114"/>
              <a:ext cx="2774659" cy="2774659"/>
            </a:xfrm>
            <a:prstGeom prst="blockArc">
              <a:avLst>
                <a:gd name="adj1" fmla="val 12622480"/>
                <a:gd name="adj2" fmla="val 19703271"/>
                <a:gd name="adj3" fmla="val 20851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5" name="Google Shape;405;p28"/>
            <p:cNvGrpSpPr/>
            <p:nvPr/>
          </p:nvGrpSpPr>
          <p:grpSpPr>
            <a:xfrm rot="-7200165">
              <a:off x="3337679" y="2826785"/>
              <a:ext cx="585011" cy="585536"/>
              <a:chOff x="1967628" y="812211"/>
              <a:chExt cx="588000" cy="588000"/>
            </a:xfrm>
          </p:grpSpPr>
          <p:sp>
            <p:nvSpPr>
              <p:cNvPr id="406" name="Google Shape;406;p28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8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8" name="Google Shape;408;p28"/>
            <p:cNvGrpSpPr/>
            <p:nvPr/>
          </p:nvGrpSpPr>
          <p:grpSpPr>
            <a:xfrm>
              <a:off x="4264097" y="1180331"/>
              <a:ext cx="585001" cy="585530"/>
              <a:chOff x="1970048" y="811613"/>
              <a:chExt cx="588000" cy="588000"/>
            </a:xfrm>
          </p:grpSpPr>
          <p:sp>
            <p:nvSpPr>
              <p:cNvPr id="409" name="Google Shape;409;p28"/>
              <p:cNvSpPr/>
              <p:nvPr/>
            </p:nvSpPr>
            <p:spPr>
              <a:xfrm rot="39023">
                <a:off x="1973329" y="814894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8"/>
              <p:cNvSpPr/>
              <p:nvPr/>
            </p:nvSpPr>
            <p:spPr>
              <a:xfrm rot="10800000">
                <a:off x="1973295" y="814927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1" name="Google Shape;411;p28"/>
            <p:cNvGrpSpPr/>
            <p:nvPr/>
          </p:nvGrpSpPr>
          <p:grpSpPr>
            <a:xfrm rot="7200165">
              <a:off x="5229930" y="2804716"/>
              <a:ext cx="585011" cy="585536"/>
              <a:chOff x="1977085" y="811649"/>
              <a:chExt cx="588000" cy="588000"/>
            </a:xfrm>
          </p:grpSpPr>
          <p:sp>
            <p:nvSpPr>
              <p:cNvPr id="412" name="Google Shape;412;p28"/>
              <p:cNvSpPr/>
              <p:nvPr/>
            </p:nvSpPr>
            <p:spPr>
              <a:xfrm rot="39023">
                <a:off x="1980366" y="814930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8"/>
              <p:cNvSpPr/>
              <p:nvPr/>
            </p:nvSpPr>
            <p:spPr>
              <a:xfrm rot="10800000">
                <a:off x="1980332" y="814963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4" name="Google Shape;414;p28"/>
            <p:cNvSpPr txBox="1"/>
            <p:nvPr/>
          </p:nvSpPr>
          <p:spPr>
            <a:xfrm>
              <a:off x="4334550" y="1255312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P3 </a:t>
              </a:r>
              <a:endParaRPr sz="1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415" name="Google Shape;415;p28"/>
            <p:cNvSpPr txBox="1"/>
            <p:nvPr/>
          </p:nvSpPr>
          <p:spPr>
            <a:xfrm>
              <a:off x="3375648" y="2887440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P1 </a:t>
              </a:r>
              <a:endParaRPr sz="1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416" name="Google Shape;416;p28"/>
            <p:cNvSpPr txBox="1"/>
            <p:nvPr/>
          </p:nvSpPr>
          <p:spPr>
            <a:xfrm>
              <a:off x="5281877" y="2857865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P2 </a:t>
              </a:r>
              <a:endParaRPr sz="1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</p:grpSp>
      <p:cxnSp>
        <p:nvCxnSpPr>
          <p:cNvPr id="400" name="Google Shape;400;p28"/>
          <p:cNvCxnSpPr>
            <a:cxnSpLocks/>
          </p:cNvCxnSpPr>
          <p:nvPr/>
        </p:nvCxnSpPr>
        <p:spPr>
          <a:xfrm>
            <a:off x="4084320" y="4310781"/>
            <a:ext cx="199666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397" name="Google Shape;397;p28"/>
          <p:cNvCxnSpPr>
            <a:cxnSpLocks/>
          </p:cNvCxnSpPr>
          <p:nvPr/>
        </p:nvCxnSpPr>
        <p:spPr>
          <a:xfrm>
            <a:off x="4385470" y="2024721"/>
            <a:ext cx="1657534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BCDE2D-B39B-48FA-90D3-69A5AA8AAB94}"/>
              </a:ext>
            </a:extLst>
          </p:cNvPr>
          <p:cNvSpPr txBox="1"/>
          <p:nvPr/>
        </p:nvSpPr>
        <p:spPr>
          <a:xfrm>
            <a:off x="980184" y="2342673"/>
            <a:ext cx="1313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 Create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975E0D-4EFE-41D6-9A89-4203ACE0C9E5}"/>
              </a:ext>
            </a:extLst>
          </p:cNvPr>
          <p:cNvSpPr txBox="1"/>
          <p:nvPr/>
        </p:nvSpPr>
        <p:spPr>
          <a:xfrm>
            <a:off x="935185" y="3159780"/>
            <a:ext cx="1313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  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29A92A-4CA1-4440-B3EA-85908504DA52}"/>
              </a:ext>
            </a:extLst>
          </p:cNvPr>
          <p:cNvSpPr txBox="1"/>
          <p:nvPr/>
        </p:nvSpPr>
        <p:spPr>
          <a:xfrm>
            <a:off x="6240996" y="1675409"/>
            <a:ext cx="1313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Update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79B07F-BE40-4BAC-9D10-FB8A5B8351DF}"/>
              </a:ext>
            </a:extLst>
          </p:cNvPr>
          <p:cNvSpPr txBox="1"/>
          <p:nvPr/>
        </p:nvSpPr>
        <p:spPr>
          <a:xfrm>
            <a:off x="6273118" y="2442114"/>
            <a:ext cx="1313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Delete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AC5380-75F7-4B32-B328-269EDFF70EF5}"/>
              </a:ext>
            </a:extLst>
          </p:cNvPr>
          <p:cNvSpPr txBox="1"/>
          <p:nvPr/>
        </p:nvSpPr>
        <p:spPr>
          <a:xfrm>
            <a:off x="6251414" y="4052549"/>
            <a:ext cx="1313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Sync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0DD5B-E0D3-4D20-A329-F185530E82FE}"/>
              </a:ext>
            </a:extLst>
          </p:cNvPr>
          <p:cNvSpPr txBox="1"/>
          <p:nvPr/>
        </p:nvSpPr>
        <p:spPr>
          <a:xfrm>
            <a:off x="883333" y="2640041"/>
            <a:ext cx="1790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100" dirty="0">
                <a:solidFill>
                  <a:schemeClr val="tx1"/>
                </a:solidFill>
              </a:rPr>
              <a:t>User adds event details via form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47BD2F-AA2E-41F0-B311-5972D5FE2962}"/>
              </a:ext>
            </a:extLst>
          </p:cNvPr>
          <p:cNvSpPr txBox="1"/>
          <p:nvPr/>
        </p:nvSpPr>
        <p:spPr>
          <a:xfrm>
            <a:off x="894448" y="3415962"/>
            <a:ext cx="1790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tx1"/>
                </a:solidFill>
              </a:rPr>
              <a:t>Event displayed in dashboard &amp; calendar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6AA506-BEFA-4E9F-BEB1-552FF4EA5DCC}"/>
              </a:ext>
            </a:extLst>
          </p:cNvPr>
          <p:cNvSpPr txBox="1"/>
          <p:nvPr/>
        </p:nvSpPr>
        <p:spPr>
          <a:xfrm>
            <a:off x="6094486" y="1963170"/>
            <a:ext cx="1790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tx1"/>
                </a:solidFill>
              </a:rPr>
              <a:t>Modify event details anytime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09E9E3-0C93-4406-85B6-6BEF95B65E89}"/>
              </a:ext>
            </a:extLst>
          </p:cNvPr>
          <p:cNvSpPr txBox="1"/>
          <p:nvPr/>
        </p:nvSpPr>
        <p:spPr>
          <a:xfrm>
            <a:off x="6115416" y="2739586"/>
            <a:ext cx="1790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tx1"/>
                </a:solidFill>
              </a:rPr>
              <a:t>Remove event when no longer needed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B567C8-8DE1-40C2-BD9F-A835BF955AEA}"/>
              </a:ext>
            </a:extLst>
          </p:cNvPr>
          <p:cNvSpPr txBox="1"/>
          <p:nvPr/>
        </p:nvSpPr>
        <p:spPr>
          <a:xfrm>
            <a:off x="6080985" y="4322054"/>
            <a:ext cx="17909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tx1"/>
                </a:solidFill>
              </a:rPr>
              <a:t>Real-time updates across modules (tasks, calendar)</a:t>
            </a:r>
            <a:endParaRPr lang="en-IN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Backend Overview And Stack 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307207"/>
            <a:ext cx="7585800" cy="3268500"/>
          </a:xfrm>
        </p:spPr>
        <p:txBody>
          <a:bodyPr/>
          <a:lstStyle/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Core Backend Functions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dirty="0"/>
              <a:t>The backend manages user login, event creation, task management, and scheduling for smooth application operations.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REST API Communication</a:t>
            </a:r>
          </a:p>
          <a:p>
            <a:pPr marL="0" lvl="1" indent="0">
              <a:buNone/>
            </a:pPr>
            <a:r>
              <a:rPr lang="en-US" sz="1200" dirty="0"/>
              <a:t>REST APIs enable secure and efficient communication between the frontend and the PostgreSQL database.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Backend Framework</a:t>
            </a:r>
          </a:p>
          <a:p>
            <a:pPr marL="0" lvl="1" indent="0">
              <a:buNone/>
            </a:pPr>
            <a:r>
              <a:rPr lang="en-US" sz="1200" dirty="0"/>
              <a:t>Spring Boot is utilized to create RESTful APIs for efficient backend operations and integration.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Database Management</a:t>
            </a:r>
          </a:p>
          <a:p>
            <a:pPr marL="0" lvl="1" indent="0">
              <a:buNone/>
            </a:pPr>
            <a:r>
              <a:rPr lang="en-US" sz="1200" dirty="0"/>
              <a:t>PostgreSQL configured as 'event scheduler' handles event data storage and management reliably.</a:t>
            </a:r>
            <a:endParaRPr lang="en-US" sz="1200" b="1" dirty="0"/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8351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Database Design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119218"/>
            <a:ext cx="4612523" cy="3923892"/>
          </a:xfrm>
        </p:spPr>
        <p:txBody>
          <a:bodyPr/>
          <a:lstStyle/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User Data Management</a:t>
            </a:r>
          </a:p>
          <a:p>
            <a:pPr marL="0" lvl="1" indent="0">
              <a:buNone/>
            </a:pPr>
            <a:r>
              <a:rPr lang="en-US" sz="1200" dirty="0"/>
              <a:t>The Users table stores key information like ID, email, password, username, and full name for each user.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Event Details Capturing</a:t>
            </a:r>
          </a:p>
          <a:p>
            <a:pPr marL="0" lvl="1" indent="0">
              <a:buNone/>
            </a:pPr>
            <a:r>
              <a:rPr lang="en-US" sz="1200" dirty="0"/>
              <a:t>The Events table records event-specific data including event ID, title, date, time, venue, description, and user association.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Task Tracking Structure</a:t>
            </a:r>
          </a:p>
          <a:p>
            <a:pPr marL="0" lvl="1" indent="0">
              <a:buNone/>
            </a:pPr>
            <a:r>
              <a:rPr lang="en-US" sz="1200" dirty="0"/>
              <a:t>The Tasks table maintains task information linked to events, including task ID, name, deadline, status, and user ID.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Relational Database Schema</a:t>
            </a:r>
          </a:p>
          <a:p>
            <a:pPr marL="0" lvl="1" indent="0">
              <a:buNone/>
            </a:pPr>
            <a:r>
              <a:rPr lang="en-US" sz="1200" dirty="0"/>
              <a:t>The design defines relationships: one user has many events, and one event has many tasks, ensuring data integrity.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Content Placeholder 4" descr="File folder big data internet network cloud computing">
            <a:extLst>
              <a:ext uri="{FF2B5EF4-FFF2-40B4-BE49-F238E27FC236}">
                <a16:creationId xmlns:a16="http://schemas.microsoft.com/office/drawing/2014/main" id="{E9AFAA48-2A05-4D4C-BA43-37D172F2FC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69" r="18870" b="-2"/>
          <a:stretch>
            <a:fillRect/>
          </a:stretch>
        </p:blipFill>
        <p:spPr>
          <a:xfrm>
            <a:off x="6103385" y="1395593"/>
            <a:ext cx="2483879" cy="24894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2987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User Authentication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343218"/>
            <a:ext cx="5233080" cy="3268500"/>
          </a:xfrm>
        </p:spPr>
        <p:txBody>
          <a:bodyPr/>
          <a:lstStyle/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Secure Credential Storage</a:t>
            </a:r>
          </a:p>
          <a:p>
            <a:pPr marL="0" lvl="1" indent="0">
              <a:buNone/>
            </a:pPr>
            <a:r>
              <a:rPr lang="en-US" sz="1200" dirty="0"/>
              <a:t>User credentials are safely stored in PostgreSQL with hashed passwords to prevent unauthorized access.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Safe Registration &amp; Login</a:t>
            </a:r>
          </a:p>
          <a:p>
            <a:pPr marL="0" lvl="1" indent="0">
              <a:buNone/>
            </a:pPr>
            <a:r>
              <a:rPr lang="en-US" sz="1200" dirty="0"/>
              <a:t>The system supports secure registration and login, protecting user data throughout the process.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200" b="1" dirty="0"/>
              <a:t>Authentication Tokens</a:t>
            </a:r>
          </a:p>
          <a:p>
            <a:pPr marL="0" lvl="1" indent="0">
              <a:buNone/>
            </a:pPr>
            <a:r>
              <a:rPr lang="en-US" sz="1200" dirty="0"/>
              <a:t>Authentication tokens maintain secure sessions, allowing continuous login without risking security.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Content Placeholder 4" descr="Database big data symbol badge">
            <a:extLst>
              <a:ext uri="{FF2B5EF4-FFF2-40B4-BE49-F238E27FC236}">
                <a16:creationId xmlns:a16="http://schemas.microsoft.com/office/drawing/2014/main" id="{0F823628-C4CC-4044-9688-52D1A393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" b="3"/>
          <a:stretch>
            <a:fillRect/>
          </a:stretch>
        </p:blipFill>
        <p:spPr>
          <a:xfrm>
            <a:off x="6176498" y="1343218"/>
            <a:ext cx="2636236" cy="26421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368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>
                <a:latin typeface="Catamaran" panose="020B0604020202020204" charset="0"/>
                <a:cs typeface="Catamaran" panose="020B0604020202020204" charset="0"/>
              </a:rPr>
              <a:t>Database Implementation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-2825160" y="1981200"/>
            <a:ext cx="2771820" cy="480060"/>
          </a:xfrm>
        </p:spPr>
        <p:txBody>
          <a:bodyPr/>
          <a:lstStyle/>
          <a:p>
            <a:pPr marL="0" indent="0">
              <a:spcBef>
                <a:spcPts val="1875"/>
              </a:spcBef>
              <a:buNone/>
            </a:pPr>
            <a:endParaRPr lang="en-US" sz="1200" dirty="0"/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4D9B392B-D86C-4023-959B-96A91C1B8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6"/>
          <a:stretch>
            <a:fillRect/>
          </a:stretch>
        </p:blipFill>
        <p:spPr>
          <a:xfrm>
            <a:off x="1040130" y="1232300"/>
            <a:ext cx="7063740" cy="36025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3790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System Validation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174595"/>
            <a:ext cx="7869600" cy="3268500"/>
          </a:xfrm>
        </p:spPr>
        <p:txBody>
          <a:bodyPr/>
          <a:lstStyle/>
          <a:p>
            <a:pPr marL="0" indent="0">
              <a:spcBef>
                <a:spcPts val="1875"/>
              </a:spcBef>
              <a:buNone/>
            </a:pPr>
            <a:r>
              <a:rPr lang="en-US" sz="1400" b="1" dirty="0"/>
              <a:t> Database Creation and Operation</a:t>
            </a:r>
          </a:p>
          <a:p>
            <a:pPr marL="0" lvl="1" indent="0">
              <a:buNone/>
            </a:pPr>
            <a:r>
              <a:rPr lang="en-US" sz="1400" b="1" dirty="0"/>
              <a:t>The 'event scheduler' PostgreSQL database has been successfully created and is fully operational for backend support.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400" b="1" dirty="0"/>
              <a:t> Functional Tables</a:t>
            </a:r>
          </a:p>
          <a:p>
            <a:pPr marL="0" lvl="1" indent="0">
              <a:buNone/>
            </a:pPr>
            <a:r>
              <a:rPr lang="en-US" sz="1400" b="1" dirty="0"/>
              <a:t>Users, Events, and Tasks tables are fully functional, ensuring accurate data storage and retrieval.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400" b="1" dirty="0"/>
              <a:t> Secure User Data</a:t>
            </a:r>
          </a:p>
          <a:p>
            <a:pPr marL="0" lvl="1" indent="0">
              <a:buNone/>
            </a:pPr>
            <a:r>
              <a:rPr lang="en-US" sz="1400" b="1" dirty="0"/>
              <a:t>The Users table stores account information securely using hashed passwords to protect user data.</a:t>
            </a:r>
          </a:p>
          <a:p>
            <a:pPr marL="0" indent="0">
              <a:spcBef>
                <a:spcPts val="1875"/>
              </a:spcBef>
              <a:buNone/>
            </a:pPr>
            <a:r>
              <a:rPr lang="en-US" sz="1400" b="1" dirty="0"/>
              <a:t> Visual Proof of Functionality</a:t>
            </a:r>
          </a:p>
          <a:p>
            <a:pPr marL="0" lvl="1" indent="0">
              <a:buNone/>
            </a:pPr>
            <a:r>
              <a:rPr lang="en-US" sz="1400" b="1" dirty="0"/>
              <a:t>Screenshots and logs provide visual confirmation of backend operations working as intended.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8382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dirty="0"/>
              <a:t>AI Integration Overview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5760" y="1475769"/>
            <a:ext cx="6357680" cy="3268500"/>
          </a:xfrm>
        </p:spPr>
        <p:txBody>
          <a:bodyPr/>
          <a:lstStyle/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Purpose: Enhance user experience through intelligent recommendations.</a:t>
            </a:r>
          </a:p>
          <a:p>
            <a:pPr>
              <a:spcAft>
                <a:spcPts val="500"/>
              </a:spcAft>
              <a:defRPr sz="1800"/>
            </a:pPr>
            <a:endParaRPr lang="en-US" sz="1400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Features:</a:t>
            </a:r>
          </a:p>
          <a:p>
            <a:pPr marL="139700" indent="0">
              <a:spcAft>
                <a:spcPts val="500"/>
              </a:spcAft>
              <a:buNone/>
              <a:defRPr sz="1800"/>
            </a:pPr>
            <a:r>
              <a:rPr lang="en-US" sz="1600" b="1" dirty="0"/>
              <a:t>        • Suggests best event timings based on availability.</a:t>
            </a:r>
          </a:p>
          <a:p>
            <a:pPr marL="139700" indent="0">
              <a:spcAft>
                <a:spcPts val="500"/>
              </a:spcAft>
              <a:buNone/>
              <a:defRPr sz="1800"/>
            </a:pPr>
            <a:r>
              <a:rPr lang="en-US" sz="1600" b="1" dirty="0"/>
              <a:t>        • Prioritizes tasks using deadlines and importance. </a:t>
            </a:r>
          </a:p>
          <a:p>
            <a:pPr marL="139700" indent="0">
              <a:spcAft>
                <a:spcPts val="500"/>
              </a:spcAft>
              <a:buNone/>
              <a:defRPr sz="1800"/>
            </a:pPr>
            <a:r>
              <a:rPr lang="en-US" sz="1600" b="1" dirty="0"/>
              <a:t>        • Recommends venues based on event category and user data</a:t>
            </a:r>
            <a:r>
              <a:rPr lang="en-US" sz="1400" b="1" dirty="0"/>
              <a:t>.</a:t>
            </a:r>
          </a:p>
          <a:p>
            <a:pPr marL="139700" indent="0">
              <a:spcAft>
                <a:spcPts val="500"/>
              </a:spcAft>
              <a:buNone/>
              <a:defRPr sz="1800"/>
            </a:pPr>
            <a:endParaRPr lang="en-US" sz="1400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Approach: Integrated AI logic module with backend using Spring Boot APIs.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103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How AI Works in Event Mate!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678151"/>
            <a:ext cx="6357680" cy="3268500"/>
          </a:xfrm>
        </p:spPr>
        <p:txBody>
          <a:bodyPr/>
          <a:lstStyle/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User enters event details (title, type, time preferences).</a:t>
            </a:r>
          </a:p>
          <a:p>
            <a:pPr marL="139700" indent="0">
              <a:spcAft>
                <a:spcPts val="500"/>
              </a:spcAft>
              <a:buNone/>
              <a:defRPr sz="1800"/>
            </a:pPr>
            <a:endParaRPr lang="en-US" sz="1600" b="1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AI analyzes data to find optimal schedule &amp; resources.</a:t>
            </a:r>
          </a:p>
          <a:p>
            <a:pPr>
              <a:spcAft>
                <a:spcPts val="500"/>
              </a:spcAft>
              <a:defRPr sz="1800"/>
            </a:pPr>
            <a:endParaRPr lang="en-US" sz="1600" b="1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Generates smart suggestions (time, venue, task priority).</a:t>
            </a:r>
          </a:p>
          <a:p>
            <a:pPr>
              <a:spcAft>
                <a:spcPts val="500"/>
              </a:spcAft>
              <a:defRPr sz="1800"/>
            </a:pPr>
            <a:endParaRPr lang="en-US" sz="1600" b="1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Displays recommendations dynamically on dashboard.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6472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dirty="0"/>
              <a:t>API Integration Overview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678151"/>
            <a:ext cx="6357680" cy="3268500"/>
          </a:xfrm>
        </p:spPr>
        <p:txBody>
          <a:bodyPr/>
          <a:lstStyle/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Frontend: React | Backend: Spring Boot | Database: PostgreSQL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RESTful API communication via </a:t>
            </a:r>
            <a:r>
              <a:rPr lang="en-IN" sz="1600" b="1" dirty="0" err="1"/>
              <a:t>Axios</a:t>
            </a:r>
            <a:r>
              <a:rPr lang="en-IN" sz="1600" b="1" dirty="0"/>
              <a:t> and JSON.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CRUD operations for Events, Tasks, and Users.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Real-time synchronization between UI and database.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9507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dirty="0"/>
              <a:t>Major API Endpoints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620549"/>
            <a:ext cx="6357680" cy="3268500"/>
          </a:xfrm>
        </p:spPr>
        <p:txBody>
          <a:bodyPr/>
          <a:lstStyle/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Users – /</a:t>
            </a:r>
            <a:r>
              <a:rPr lang="en-IN" sz="1600" b="1" dirty="0" err="1"/>
              <a:t>api</a:t>
            </a:r>
            <a:r>
              <a:rPr lang="en-IN" sz="1600" b="1" dirty="0"/>
              <a:t>/users  (POST, GET) → Register &amp; Fetch User Data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Events – /</a:t>
            </a:r>
            <a:r>
              <a:rPr lang="en-IN" sz="1600" b="1" dirty="0" err="1"/>
              <a:t>api</a:t>
            </a:r>
            <a:r>
              <a:rPr lang="en-IN" sz="1600" b="1" dirty="0"/>
              <a:t>/events  (CRUD) → Manage Events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Tasks – /</a:t>
            </a:r>
            <a:r>
              <a:rPr lang="en-IN" sz="1600" b="1" dirty="0" err="1"/>
              <a:t>api</a:t>
            </a:r>
            <a:r>
              <a:rPr lang="en-IN" sz="1600" b="1" dirty="0"/>
              <a:t>/tasks  (CRUD) → Manage Tasks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AI Suggestions – /</a:t>
            </a:r>
            <a:r>
              <a:rPr lang="en-IN" sz="1600" b="1" dirty="0" err="1"/>
              <a:t>api</a:t>
            </a:r>
            <a:r>
              <a:rPr lang="en-IN" sz="1600" b="1" dirty="0"/>
              <a:t>/ai/recommend  (POST) → Generate AI Recommendations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5011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dirty="0"/>
              <a:t>Integration Flow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624811"/>
            <a:ext cx="6357680" cy="3268500"/>
          </a:xfrm>
        </p:spPr>
        <p:txBody>
          <a:bodyPr/>
          <a:lstStyle/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React Frontend → REST API → Spring Boot Backend → PostgreSQL Database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+ AI Recommendation Engine connected with backend module.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Ensures real-time data consistency and intelligence-driven responses.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5276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Smart Validation on Event Creation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-2731427" y="1280179"/>
            <a:ext cx="720436" cy="1291571"/>
          </a:xfrm>
        </p:spPr>
        <p:txBody>
          <a:bodyPr/>
          <a:lstStyle/>
          <a:p>
            <a:pPr marL="139700" indent="0">
              <a:spcAft>
                <a:spcPts val="500"/>
              </a:spcAft>
              <a:buNone/>
              <a:defRPr sz="1800"/>
            </a:pPr>
            <a:endParaRPr lang="en-IN" sz="1600" b="1" dirty="0"/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9768CE9-7C12-4EC1-AC59-73FDB682AF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19991" y="1280178"/>
            <a:ext cx="6203029" cy="34358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07D4954-BE08-4952-9D17-9A3FC6990022}"/>
              </a:ext>
            </a:extLst>
          </p:cNvPr>
          <p:cNvSpPr/>
          <p:nvPr/>
        </p:nvSpPr>
        <p:spPr>
          <a:xfrm>
            <a:off x="625791" y="1280178"/>
            <a:ext cx="2009887" cy="34230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 </a:t>
            </a:r>
            <a:r>
              <a:rPr lang="en-US" sz="1200" b="1" dirty="0"/>
              <a:t>Description: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When users attempt to book an event at a time slot already occupied, the system shows an alert.</a:t>
            </a:r>
            <a:endParaRPr lang="en-IN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Feature Purpose: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Prevents double bookings by checking date/time conflicts before event creation.</a:t>
            </a:r>
            <a:endParaRPr lang="en-IN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b="1" dirty="0"/>
              <a:t>Integration</a:t>
            </a:r>
            <a:r>
              <a:rPr lang="en-IN" sz="1200" dirty="0"/>
              <a:t>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200" dirty="0"/>
              <a:t>Frontend → API → Database validation flow.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Real-time alert ensures accurate scheduling.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2632750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dirty="0" smtClean="0">
                <a:latin typeface="Catamaran" panose="020B0604020202020204" charset="0"/>
                <a:cs typeface="Catamaran" panose="020B0604020202020204" charset="0"/>
              </a:rPr>
              <a:t>API INTEGRATION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-2857108" y="1232300"/>
            <a:ext cx="720436" cy="1291571"/>
          </a:xfrm>
        </p:spPr>
        <p:txBody>
          <a:bodyPr/>
          <a:lstStyle/>
          <a:p>
            <a:pPr marL="139700" indent="0">
              <a:spcAft>
                <a:spcPts val="500"/>
              </a:spcAft>
              <a:buNone/>
              <a:defRPr sz="1800"/>
            </a:pPr>
            <a:endParaRPr lang="en-IN" sz="1600" b="1" dirty="0"/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9768CE9-7C12-4EC1-AC59-73FDB682A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055" y="1468173"/>
            <a:ext cx="5931059" cy="30375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07D4954-BE08-4952-9D17-9A3FC6990022}"/>
              </a:ext>
            </a:extLst>
          </p:cNvPr>
          <p:cNvSpPr/>
          <p:nvPr/>
        </p:nvSpPr>
        <p:spPr>
          <a:xfrm>
            <a:off x="668189" y="1468173"/>
            <a:ext cx="2009887" cy="30299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1" dirty="0"/>
              <a:t> </a:t>
            </a:r>
            <a:r>
              <a:rPr lang="en-IN" b="1" dirty="0" smtClean="0"/>
              <a:t>Frontend: </a:t>
            </a:r>
            <a:r>
              <a:rPr lang="en-IN" dirty="0" smtClean="0"/>
              <a:t>Sends user input to the backend API.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IN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err="1" smtClean="0"/>
              <a:t>Backend:</a:t>
            </a:r>
            <a:r>
              <a:rPr lang="en-IN" dirty="0" err="1" smtClean="0"/>
              <a:t>Receives</a:t>
            </a:r>
            <a:r>
              <a:rPr lang="en-IN" dirty="0" smtClean="0"/>
              <a:t> request, calls the </a:t>
            </a:r>
            <a:r>
              <a:rPr lang="en-IN" dirty="0" err="1" smtClean="0"/>
              <a:t>OpenAI</a:t>
            </a:r>
            <a:r>
              <a:rPr lang="en-IN" dirty="0" smtClean="0"/>
              <a:t> API and gets AI-generated suggestions.</a:t>
            </a:r>
            <a:endParaRPr lang="en-IN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Backend send AI response back and frontend displays it</a:t>
            </a:r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2969028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dirty="0"/>
              <a:t>Testing &amp; Validation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678151"/>
            <a:ext cx="6357680" cy="3268500"/>
          </a:xfrm>
        </p:spPr>
        <p:txBody>
          <a:bodyPr/>
          <a:lstStyle/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Tools Used: Postman, Browser Dev Tools.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Verified CRUD API calls and AI outputs.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Validated CORS configuration and JSON data consistency.</a:t>
            </a:r>
          </a:p>
          <a:p>
            <a:pPr>
              <a:spcAft>
                <a:spcPts val="500"/>
              </a:spcAft>
              <a:defRPr sz="1800"/>
            </a:pPr>
            <a:endParaRPr lang="en-IN" sz="1600" b="1" dirty="0"/>
          </a:p>
          <a:p>
            <a:pPr>
              <a:spcAft>
                <a:spcPts val="500"/>
              </a:spcAft>
              <a:defRPr sz="1800"/>
            </a:pPr>
            <a:r>
              <a:rPr lang="en-IN" sz="1600" b="1" dirty="0"/>
              <a:t>Placeholder: Insert API Testing &amp; Dashboard Screenshots Here.</a:t>
            </a:r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2406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35768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Results</a:t>
            </a:r>
            <a:endParaRPr lang="en-IN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-6169307" y="1475769"/>
            <a:ext cx="3525297" cy="2803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Mate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is an AI-powered platform that simplifies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planning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by combining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event creation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calendar scheduling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task management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into one dashboard. With real-time synchronization and smart AI recommendations,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 it reduces manual effort, improves collaboration, and </a:t>
            </a:r>
            <a:r>
              <a:rPr lang="en-US" sz="1400" b="1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enhances productivity </a:t>
            </a:r>
            <a:r>
              <a:rPr lang="en-US" sz="1400" dirty="0">
                <a:solidFill>
                  <a:srgbClr val="404040"/>
                </a:solidFill>
                <a:latin typeface="Catamaran" panose="020B0604020202020204" charset="0"/>
                <a:cs typeface="Catamaran" panose="020B0604020202020204" charset="0"/>
              </a:rPr>
              <a:t>for personal, academic, and professional use.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dirty="0">
                <a:solidFill>
                  <a:srgbClr val="404040"/>
                </a:solidFill>
                <a:effectLst/>
                <a:latin typeface="Catamaran" panose="020B0604020202020204" charset="0"/>
                <a:cs typeface="Catamaran" panose="020B0604020202020204" charset="0"/>
              </a:rPr>
              <a:t>.</a:t>
            </a:r>
            <a:endParaRPr lang="en-US" sz="2800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A5F5-81DD-F363-C46E-E3C6C39184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100" y="1304771"/>
            <a:ext cx="6357680" cy="3268500"/>
          </a:xfrm>
        </p:spPr>
        <p:txBody>
          <a:bodyPr/>
          <a:lstStyle/>
          <a:p>
            <a:pPr marL="139700" indent="0">
              <a:spcAft>
                <a:spcPts val="500"/>
              </a:spcAft>
              <a:buNone/>
              <a:defRPr sz="1800"/>
            </a:pPr>
            <a:r>
              <a:rPr lang="en-US" sz="1800" b="1" dirty="0"/>
              <a:t>Event Mate simplifies event planning with AI-driven solutions</a:t>
            </a:r>
            <a:endParaRPr lang="en-IN" sz="1800" b="1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✅ AI-driven event and task recommendations.</a:t>
            </a:r>
          </a:p>
          <a:p>
            <a:pPr>
              <a:spcAft>
                <a:spcPts val="500"/>
              </a:spcAft>
              <a:defRPr sz="1800"/>
            </a:pPr>
            <a:endParaRPr lang="en-US" sz="1600" b="1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✅ Frontend and backend fully synchronized.</a:t>
            </a:r>
          </a:p>
          <a:p>
            <a:pPr>
              <a:spcAft>
                <a:spcPts val="500"/>
              </a:spcAft>
              <a:defRPr sz="1800"/>
            </a:pPr>
            <a:endParaRPr lang="en-US" sz="1600" b="1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✅ Real-time updates across all dashboards.</a:t>
            </a:r>
          </a:p>
          <a:p>
            <a:pPr>
              <a:spcAft>
                <a:spcPts val="500"/>
              </a:spcAft>
              <a:defRPr sz="1800"/>
            </a:pPr>
            <a:endParaRPr lang="en-US" sz="1600" b="1" dirty="0"/>
          </a:p>
          <a:p>
            <a:pPr>
              <a:spcAft>
                <a:spcPts val="500"/>
              </a:spcAft>
              <a:defRPr sz="1800"/>
            </a:pPr>
            <a:r>
              <a:rPr lang="en-US" sz="1600" b="1" dirty="0"/>
              <a:t>✅ Enhanced efficiency and user experience.</a:t>
            </a:r>
            <a:endParaRPr lang="en-IN" sz="1600" b="1" dirty="0"/>
          </a:p>
        </p:txBody>
      </p:sp>
      <p:grpSp>
        <p:nvGrpSpPr>
          <p:cNvPr id="6" name="Google Shape;1013;p47">
            <a:extLst>
              <a:ext uri="{FF2B5EF4-FFF2-40B4-BE49-F238E27FC236}">
                <a16:creationId xmlns:a16="http://schemas.microsoft.com/office/drawing/2014/main" id="{5361E6CC-827D-CE94-9E55-2A7EC52AA747}"/>
              </a:ext>
            </a:extLst>
          </p:cNvPr>
          <p:cNvGrpSpPr/>
          <p:nvPr/>
        </p:nvGrpSpPr>
        <p:grpSpPr>
          <a:xfrm>
            <a:off x="113403" y="870476"/>
            <a:ext cx="306868" cy="304119"/>
            <a:chOff x="3955900" y="2984500"/>
            <a:chExt cx="414000" cy="422525"/>
          </a:xfrm>
          <a:solidFill>
            <a:schemeClr val="bg1"/>
          </a:solidFill>
        </p:grpSpPr>
        <p:sp>
          <p:nvSpPr>
            <p:cNvPr id="7" name="Google Shape;1014;p47">
              <a:extLst>
                <a:ext uri="{FF2B5EF4-FFF2-40B4-BE49-F238E27FC236}">
                  <a16:creationId xmlns:a16="http://schemas.microsoft.com/office/drawing/2014/main" id="{8B5C37BC-EEEA-2C52-F40B-7B3D03206DB5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15;p47">
              <a:extLst>
                <a:ext uri="{FF2B5EF4-FFF2-40B4-BE49-F238E27FC236}">
                  <a16:creationId xmlns:a16="http://schemas.microsoft.com/office/drawing/2014/main" id="{11576A7D-1238-4C7C-D4A5-EB85D1F82EB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9" name="Google Shape;1016;p47">
              <a:extLst>
                <a:ext uri="{FF2B5EF4-FFF2-40B4-BE49-F238E27FC236}">
                  <a16:creationId xmlns:a16="http://schemas.microsoft.com/office/drawing/2014/main" id="{3CB6C064-0AAA-5EE0-C106-5AFF12C0326D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8960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 txBox="1">
            <a:spLocks noGrp="1"/>
          </p:cNvSpPr>
          <p:nvPr>
            <p:ph type="ctrTitle" idx="4294967295"/>
          </p:nvPr>
        </p:nvSpPr>
        <p:spPr>
          <a:xfrm>
            <a:off x="355827" y="541995"/>
            <a:ext cx="6647562" cy="8156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dirty="0">
                <a:solidFill>
                  <a:schemeClr val="bg1"/>
                </a:solidFill>
              </a:rPr>
              <a:t>Future Scope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252" name="Google Shape;252;p18"/>
          <p:cNvSpPr txBox="1">
            <a:spLocks noGrp="1"/>
          </p:cNvSpPr>
          <p:nvPr>
            <p:ph type="subTitle" idx="4294967295"/>
          </p:nvPr>
        </p:nvSpPr>
        <p:spPr>
          <a:xfrm>
            <a:off x="639675" y="1420126"/>
            <a:ext cx="3385687" cy="28433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Aft>
                <a:spcPts val="500"/>
              </a:spcAft>
              <a:defRPr sz="1800"/>
            </a:pPr>
            <a:r>
              <a:rPr lang="en-US" sz="1600" b="1" dirty="0">
                <a:solidFill>
                  <a:schemeClr val="bg1"/>
                </a:solidFill>
              </a:rPr>
              <a:t>Advanced AI for predictive event success analysis.</a:t>
            </a:r>
          </a:p>
          <a:p>
            <a:pPr>
              <a:spcAft>
                <a:spcPts val="500"/>
              </a:spcAft>
              <a:defRPr sz="1800"/>
            </a:pPr>
            <a:endParaRPr lang="en-US" sz="1600" b="1" dirty="0">
              <a:solidFill>
                <a:schemeClr val="bg1"/>
              </a:solidFill>
            </a:endParaRPr>
          </a:p>
          <a:p>
            <a:pPr>
              <a:spcAft>
                <a:spcPts val="500"/>
              </a:spcAft>
              <a:defRPr sz="1800"/>
            </a:pPr>
            <a:r>
              <a:rPr lang="en-US" sz="1600" b="1" dirty="0">
                <a:solidFill>
                  <a:schemeClr val="bg1"/>
                </a:solidFill>
              </a:rPr>
              <a:t>Integration with Google Calendar API.</a:t>
            </a:r>
          </a:p>
          <a:p>
            <a:pPr>
              <a:spcAft>
                <a:spcPts val="500"/>
              </a:spcAft>
              <a:defRPr sz="1800"/>
            </a:pPr>
            <a:endParaRPr lang="en-US" sz="1600" b="1" dirty="0">
              <a:solidFill>
                <a:schemeClr val="bg1"/>
              </a:solidFill>
            </a:endParaRPr>
          </a:p>
          <a:p>
            <a:pPr>
              <a:spcAft>
                <a:spcPts val="500"/>
              </a:spcAft>
              <a:defRPr sz="1800"/>
            </a:pPr>
            <a:r>
              <a:rPr lang="en-US" sz="1600" b="1" dirty="0">
                <a:solidFill>
                  <a:schemeClr val="bg1"/>
                </a:solidFill>
              </a:rPr>
              <a:t>Role-based access control for users and admins.</a:t>
            </a:r>
          </a:p>
          <a:p>
            <a:pPr>
              <a:spcAft>
                <a:spcPts val="500"/>
              </a:spcAft>
              <a:defRPr sz="1800"/>
            </a:pPr>
            <a:endParaRPr lang="en-US" sz="1600" b="1" dirty="0">
              <a:solidFill>
                <a:schemeClr val="bg1"/>
              </a:solidFill>
            </a:endParaRPr>
          </a:p>
          <a:p>
            <a:pPr>
              <a:spcAft>
                <a:spcPts val="500"/>
              </a:spcAft>
              <a:defRPr sz="1800"/>
            </a:pPr>
            <a:r>
              <a:rPr lang="en-US" sz="1600" b="1" dirty="0">
                <a:solidFill>
                  <a:schemeClr val="bg1"/>
                </a:solidFill>
              </a:rPr>
              <a:t>Voice assistant for event creation and reminders</a:t>
            </a:r>
            <a:r>
              <a:rPr lang="en-US" sz="1400" b="1" dirty="0">
                <a:solidFill>
                  <a:schemeClr val="bg1"/>
                </a:solidFill>
              </a:rPr>
              <a:t>.</a:t>
            </a:r>
            <a:endParaRPr lang="en-US" sz="1400" b="1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24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4303900" y="1851926"/>
            <a:ext cx="4495770" cy="3291579"/>
          </a:xfrm>
          <a:custGeom>
            <a:avLst/>
            <a:gdLst/>
            <a:ahLst/>
            <a:cxnLst/>
            <a:rect l="l" t="t" r="r" b="b"/>
            <a:pathLst>
              <a:path w="21600" h="21385" extrusionOk="0">
                <a:moveTo>
                  <a:pt x="21600" y="21385"/>
                </a:moveTo>
                <a:lnTo>
                  <a:pt x="21600" y="10472"/>
                </a:lnTo>
                <a:cubicBezTo>
                  <a:pt x="21600" y="8748"/>
                  <a:pt x="20920" y="7155"/>
                  <a:pt x="19816" y="6292"/>
                </a:cubicBezTo>
                <a:lnTo>
                  <a:pt x="12585" y="647"/>
                </a:lnTo>
                <a:cubicBezTo>
                  <a:pt x="11480" y="-215"/>
                  <a:pt x="10120" y="-215"/>
                  <a:pt x="9015" y="647"/>
                </a:cubicBezTo>
                <a:lnTo>
                  <a:pt x="1785" y="6292"/>
                </a:lnTo>
                <a:cubicBezTo>
                  <a:pt x="680" y="7154"/>
                  <a:pt x="0" y="8748"/>
                  <a:pt x="0" y="10472"/>
                </a:cubicBezTo>
                <a:lnTo>
                  <a:pt x="0" y="2138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28625" dist="95250" dir="162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6842030" y="4523001"/>
            <a:ext cx="322719" cy="30814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8"/>
          <p:cNvGrpSpPr/>
          <p:nvPr/>
        </p:nvGrpSpPr>
        <p:grpSpPr>
          <a:xfrm>
            <a:off x="6441204" y="2792568"/>
            <a:ext cx="1382431" cy="1382802"/>
            <a:chOff x="6654650" y="3665275"/>
            <a:chExt cx="409100" cy="409125"/>
          </a:xfrm>
        </p:grpSpPr>
        <p:sp>
          <p:nvSpPr>
            <p:cNvPr id="257" name="Google Shape;257;p18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" name="Google Shape;259;p18"/>
          <p:cNvGrpSpPr/>
          <p:nvPr/>
        </p:nvGrpSpPr>
        <p:grpSpPr>
          <a:xfrm rot="1056760">
            <a:off x="5109434" y="3879281"/>
            <a:ext cx="913321" cy="913402"/>
            <a:chOff x="570875" y="4322250"/>
            <a:chExt cx="443300" cy="443325"/>
          </a:xfrm>
        </p:grpSpPr>
        <p:sp>
          <p:nvSpPr>
            <p:cNvPr id="260" name="Google Shape;260;p1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/>
          <p:nvPr/>
        </p:nvSpPr>
        <p:spPr>
          <a:xfrm rot="2466650">
            <a:off x="5211679" y="3060758"/>
            <a:ext cx="448377" cy="428125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18"/>
          <p:cNvSpPr/>
          <p:nvPr/>
        </p:nvSpPr>
        <p:spPr>
          <a:xfrm rot="-1609598">
            <a:off x="5867355" y="3330098"/>
            <a:ext cx="322650" cy="30806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18"/>
          <p:cNvSpPr/>
          <p:nvPr/>
        </p:nvSpPr>
        <p:spPr>
          <a:xfrm rot="2925957">
            <a:off x="7823620" y="3574180"/>
            <a:ext cx="241702" cy="23078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8"/>
          <p:cNvSpPr/>
          <p:nvPr/>
        </p:nvSpPr>
        <p:spPr>
          <a:xfrm rot="-1609409">
            <a:off x="6408419" y="2595964"/>
            <a:ext cx="217724" cy="2078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4490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Conclusion</a:t>
            </a:r>
            <a:endParaRPr dirty="0"/>
          </a:p>
        </p:txBody>
      </p:sp>
      <p:sp>
        <p:nvSpPr>
          <p:cNvPr id="300" name="Google Shape;300;p21"/>
          <p:cNvSpPr txBox="1">
            <a:spLocks noGrp="1"/>
          </p:cNvSpPr>
          <p:nvPr>
            <p:ph type="body" idx="1"/>
          </p:nvPr>
        </p:nvSpPr>
        <p:spPr>
          <a:xfrm>
            <a:off x="434341" y="1412160"/>
            <a:ext cx="3964940" cy="37313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Event Mate simplifies event planning with AI-driven solutions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Provides centralized management of events, tasks, and schedules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Enhances productivity and reduces manual errors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Scalable and adaptable for personal, academic, and enterprise use</a:t>
            </a:r>
            <a:endParaRPr lang="en-IN" sz="1800" dirty="0"/>
          </a:p>
        </p:txBody>
      </p:sp>
      <p:sp>
        <p:nvSpPr>
          <p:cNvPr id="301" name="Google Shape;301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305" name="Google Shape;305;p21"/>
          <p:cNvPicPr preferRelativeResize="0"/>
          <p:nvPr/>
        </p:nvPicPr>
        <p:blipFill>
          <a:blip r:embed="rId3"/>
          <a:srcRect l="6082" t="4540" r="19119" b="22443"/>
          <a:stretch/>
        </p:blipFill>
        <p:spPr>
          <a:xfrm>
            <a:off x="4479403" y="1412112"/>
            <a:ext cx="4791919" cy="37313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8" y="0"/>
                </a:moveTo>
                <a:cubicBezTo>
                  <a:pt x="10182" y="0"/>
                  <a:pt x="9569" y="218"/>
                  <a:pt x="9017" y="653"/>
                </a:cubicBezTo>
                <a:lnTo>
                  <a:pt x="1785" y="6357"/>
                </a:lnTo>
                <a:cubicBezTo>
                  <a:pt x="681" y="7228"/>
                  <a:pt x="0" y="8834"/>
                  <a:pt x="0" y="10576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10576"/>
                </a:lnTo>
                <a:cubicBezTo>
                  <a:pt x="21600" y="8834"/>
                  <a:pt x="20919" y="7228"/>
                  <a:pt x="19815" y="6357"/>
                </a:cubicBezTo>
                <a:lnTo>
                  <a:pt x="12583" y="653"/>
                </a:lnTo>
                <a:cubicBezTo>
                  <a:pt x="12031" y="218"/>
                  <a:pt x="11414" y="0"/>
                  <a:pt x="10798" y="0"/>
                </a:cubicBezTo>
                <a:close/>
              </a:path>
            </a:pathLst>
          </a:custGeom>
          <a:noFill/>
          <a:ln>
            <a:noFill/>
          </a:ln>
          <a:effectLst>
            <a:glow rad="571621">
              <a:schemeClr val="accent1">
                <a:alpha val="17909"/>
              </a:schemeClr>
            </a:glow>
            <a:softEdge rad="0"/>
          </a:effectLst>
        </p:spPr>
      </p:pic>
      <p:grpSp>
        <p:nvGrpSpPr>
          <p:cNvPr id="8" name="Google Shape;959;p47">
            <a:extLst>
              <a:ext uri="{FF2B5EF4-FFF2-40B4-BE49-F238E27FC236}">
                <a16:creationId xmlns:a16="http://schemas.microsoft.com/office/drawing/2014/main" id="{8D367E4E-FD8B-4718-A278-31BAE927B67F}"/>
              </a:ext>
            </a:extLst>
          </p:cNvPr>
          <p:cNvGrpSpPr/>
          <p:nvPr/>
        </p:nvGrpSpPr>
        <p:grpSpPr>
          <a:xfrm>
            <a:off x="114301" y="841638"/>
            <a:ext cx="320040" cy="339462"/>
            <a:chOff x="5970800" y="1619250"/>
            <a:chExt cx="428650" cy="456725"/>
          </a:xfrm>
          <a:solidFill>
            <a:schemeClr val="bg1"/>
          </a:solidFill>
        </p:grpSpPr>
        <p:sp>
          <p:nvSpPr>
            <p:cNvPr id="9" name="Google Shape;960;p47">
              <a:extLst>
                <a:ext uri="{FF2B5EF4-FFF2-40B4-BE49-F238E27FC236}">
                  <a16:creationId xmlns:a16="http://schemas.microsoft.com/office/drawing/2014/main" id="{7D8A7BC5-65A7-9AF0-E05C-BE797CAF8F09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961;p47">
              <a:extLst>
                <a:ext uri="{FF2B5EF4-FFF2-40B4-BE49-F238E27FC236}">
                  <a16:creationId xmlns:a16="http://schemas.microsoft.com/office/drawing/2014/main" id="{A32B1B1E-3691-95D4-6A50-8146F2A164F6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962;p47">
              <a:extLst>
                <a:ext uri="{FF2B5EF4-FFF2-40B4-BE49-F238E27FC236}">
                  <a16:creationId xmlns:a16="http://schemas.microsoft.com/office/drawing/2014/main" id="{88CC18D4-EE84-1F0E-9D1D-E0DB131DAB73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63;p47">
              <a:extLst>
                <a:ext uri="{FF2B5EF4-FFF2-40B4-BE49-F238E27FC236}">
                  <a16:creationId xmlns:a16="http://schemas.microsoft.com/office/drawing/2014/main" id="{F9A3DCFC-894F-9125-1619-C62833111652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64;p47">
              <a:extLst>
                <a:ext uri="{FF2B5EF4-FFF2-40B4-BE49-F238E27FC236}">
                  <a16:creationId xmlns:a16="http://schemas.microsoft.com/office/drawing/2014/main" id="{05772839-F272-8234-E488-7EF9E400CAC5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uphin template">
  <a:themeElements>
    <a:clrScheme name="Custom 347">
      <a:dk1>
        <a:srgbClr val="210635"/>
      </a:dk1>
      <a:lt1>
        <a:srgbClr val="FFFFFF"/>
      </a:lt1>
      <a:dk2>
        <a:srgbClr val="89828F"/>
      </a:dk2>
      <a:lt2>
        <a:srgbClr val="F4F3F8"/>
      </a:lt2>
      <a:accent1>
        <a:srgbClr val="725DCF"/>
      </a:accent1>
      <a:accent2>
        <a:srgbClr val="BD6DE0"/>
      </a:accent2>
      <a:accent3>
        <a:srgbClr val="F07249"/>
      </a:accent3>
      <a:accent4>
        <a:srgbClr val="FFB200"/>
      </a:accent4>
      <a:accent5>
        <a:srgbClr val="9D91EE"/>
      </a:accent5>
      <a:accent6>
        <a:srgbClr val="3691E0"/>
      </a:accent6>
      <a:hlink>
        <a:srgbClr val="6A5DC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 MateM4temp2</Template>
  <TotalTime>25</TotalTime>
  <Words>2134</Words>
  <Application>Microsoft Office PowerPoint</Application>
  <PresentationFormat>On-screen Show (16:9)</PresentationFormat>
  <Paragraphs>332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Catamaran Thin</vt:lpstr>
      <vt:lpstr>Catamaran</vt:lpstr>
      <vt:lpstr>Arial</vt:lpstr>
      <vt:lpstr>Courier New</vt:lpstr>
      <vt:lpstr>Wingdings</vt:lpstr>
      <vt:lpstr>Calibri</vt:lpstr>
      <vt:lpstr>Dauphin template</vt:lpstr>
      <vt:lpstr>Event Mate  AI Based Event Planner and Scheduler</vt:lpstr>
      <vt:lpstr>Project Overview &amp; Objectives</vt:lpstr>
      <vt:lpstr>Technology Stack</vt:lpstr>
      <vt:lpstr>User Dashboard </vt:lpstr>
      <vt:lpstr> Event Dashboard</vt:lpstr>
      <vt:lpstr> Add New Event</vt:lpstr>
      <vt:lpstr> Calendar Dashboard</vt:lpstr>
      <vt:lpstr> Tasks Dashboard</vt:lpstr>
      <vt:lpstr>Event Lifecycle</vt:lpstr>
      <vt:lpstr>Backend Overview And Stack </vt:lpstr>
      <vt:lpstr>Database Design</vt:lpstr>
      <vt:lpstr>User Authentication</vt:lpstr>
      <vt:lpstr>Database Implementation</vt:lpstr>
      <vt:lpstr>System Validation</vt:lpstr>
      <vt:lpstr>AI Integration Overview</vt:lpstr>
      <vt:lpstr>How AI Works in Event Mate!</vt:lpstr>
      <vt:lpstr>API Integration Overview</vt:lpstr>
      <vt:lpstr>Major API Endpoints</vt:lpstr>
      <vt:lpstr>Integration Flow</vt:lpstr>
      <vt:lpstr>Smart Validation on Event Creation</vt:lpstr>
      <vt:lpstr>API INTEGRATION</vt:lpstr>
      <vt:lpstr>Testing &amp; Validation</vt:lpstr>
      <vt:lpstr>Results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Mate  AI Based Event Planner and Scheduler</dc:title>
  <dc:creator>monali nandurkar</dc:creator>
  <cp:lastModifiedBy>dell</cp:lastModifiedBy>
  <cp:revision>3</cp:revision>
  <dcterms:created xsi:type="dcterms:W3CDTF">2025-10-22T13:26:59Z</dcterms:created>
  <dcterms:modified xsi:type="dcterms:W3CDTF">2025-11-03T15:02:40Z</dcterms:modified>
</cp:coreProperties>
</file>